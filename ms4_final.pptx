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60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5324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5324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5324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rgbClr val="5324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5324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5324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399" y="8229599"/>
                </a:moveTo>
                <a:lnTo>
                  <a:pt x="0" y="8229599"/>
                </a:lnTo>
                <a:lnTo>
                  <a:pt x="0" y="0"/>
                </a:lnTo>
                <a:lnTo>
                  <a:pt x="14630399" y="0"/>
                </a:lnTo>
                <a:lnTo>
                  <a:pt x="14630399" y="8229599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214" y="7749540"/>
            <a:ext cx="1722604" cy="4114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4885" y="529807"/>
            <a:ext cx="13280628" cy="815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5324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67489" y="1400206"/>
            <a:ext cx="6517005" cy="3183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rgbClr val="53241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76071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145"/>
              </a:spcBef>
            </a:pPr>
            <a:r>
              <a:rPr sz="6000" spc="300" dirty="0">
                <a:solidFill>
                  <a:srgbClr val="000000"/>
                </a:solidFill>
                <a:latin typeface="Segoe UI Symbol"/>
                <a:cs typeface="Segoe UI Symbol"/>
              </a:rPr>
              <a:t>📊</a:t>
            </a:r>
            <a:r>
              <a:rPr sz="6000" spc="-80" dirty="0">
                <a:solidFill>
                  <a:srgbClr val="000000"/>
                </a:solidFill>
                <a:latin typeface="Segoe UI Symbol"/>
                <a:cs typeface="Segoe UI Symbol"/>
              </a:rPr>
              <a:t> </a:t>
            </a:r>
            <a:r>
              <a:rPr spc="270" dirty="0"/>
              <a:t>Graph</a:t>
            </a:r>
            <a:r>
              <a:rPr spc="390" dirty="0"/>
              <a:t> </a:t>
            </a:r>
            <a:r>
              <a:rPr spc="180" dirty="0"/>
              <a:t>Analytics</a:t>
            </a:r>
            <a:r>
              <a:rPr spc="385" dirty="0"/>
              <a:t> </a:t>
            </a:r>
            <a:r>
              <a:rPr spc="710" dirty="0"/>
              <a:t>+ </a:t>
            </a:r>
            <a:r>
              <a:rPr spc="204" dirty="0"/>
              <a:t>Semantic</a:t>
            </a:r>
            <a:r>
              <a:rPr spc="395" dirty="0"/>
              <a:t> </a:t>
            </a:r>
            <a:r>
              <a:rPr spc="320" dirty="0"/>
              <a:t>QA:</a:t>
            </a:r>
            <a:r>
              <a:rPr spc="395" dirty="0"/>
              <a:t> </a:t>
            </a:r>
            <a:r>
              <a:rPr spc="190" dirty="0"/>
              <a:t>Building </a:t>
            </a:r>
            <a:r>
              <a:rPr spc="305" dirty="0"/>
              <a:t>Knowledge</a:t>
            </a:r>
            <a:r>
              <a:rPr spc="390" dirty="0"/>
              <a:t> </a:t>
            </a:r>
            <a:r>
              <a:rPr spc="190" dirty="0"/>
              <a:t>Graphs</a:t>
            </a:r>
            <a:r>
              <a:rPr spc="395" dirty="0"/>
              <a:t> </a:t>
            </a:r>
            <a:r>
              <a:rPr spc="100" dirty="0"/>
              <a:t>in</a:t>
            </a:r>
            <a:endParaRPr sz="600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67489" y="4790876"/>
            <a:ext cx="264223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160" dirty="0">
                <a:solidFill>
                  <a:srgbClr val="532417"/>
                </a:solidFill>
                <a:latin typeface="Calibri"/>
                <a:cs typeface="Calibri"/>
              </a:rPr>
              <a:t>Streamlit</a:t>
            </a:r>
            <a:endParaRPr sz="510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4B1D6-5A50-1D24-5D64-5F1029CBCEF1}"/>
              </a:ext>
            </a:extLst>
          </p:cNvPr>
          <p:cNvSpPr txBox="1"/>
          <p:nvPr/>
        </p:nvSpPr>
        <p:spPr>
          <a:xfrm>
            <a:off x="12649200" y="7772400"/>
            <a:ext cx="19812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2655A-44C2-3425-E060-CE2114CEB3A6}"/>
              </a:ext>
            </a:extLst>
          </p:cNvPr>
          <p:cNvSpPr txBox="1"/>
          <p:nvPr/>
        </p:nvSpPr>
        <p:spPr>
          <a:xfrm>
            <a:off x="6324600" y="5943600"/>
            <a:ext cx="396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By:</a:t>
            </a:r>
          </a:p>
          <a:p>
            <a:r>
              <a:rPr lang="en-IN" dirty="0"/>
              <a:t>Shaik Althaf</a:t>
            </a:r>
          </a:p>
          <a:p>
            <a:r>
              <a:rPr lang="en-IN" dirty="0"/>
              <a:t>Vigneswari</a:t>
            </a:r>
          </a:p>
          <a:p>
            <a:r>
              <a:rPr lang="en-IN" dirty="0"/>
              <a:t>Aditya</a:t>
            </a:r>
          </a:p>
          <a:p>
            <a:r>
              <a:rPr lang="en-IN" dirty="0"/>
              <a:t>Iswarya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089" y="1449149"/>
            <a:ext cx="1036574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195" dirty="0"/>
              <a:t>Project</a:t>
            </a:r>
            <a:r>
              <a:rPr sz="5100" spc="380" dirty="0"/>
              <a:t> </a:t>
            </a:r>
            <a:r>
              <a:rPr sz="5100" spc="170" dirty="0"/>
              <a:t>Overview:</a:t>
            </a:r>
            <a:r>
              <a:rPr sz="5100" spc="380" dirty="0"/>
              <a:t> </a:t>
            </a:r>
            <a:r>
              <a:rPr sz="5100" spc="320" dirty="0"/>
              <a:t>Key</a:t>
            </a:r>
            <a:r>
              <a:rPr sz="5100" spc="380" dirty="0"/>
              <a:t> </a:t>
            </a:r>
            <a:r>
              <a:rPr sz="5100" spc="265" dirty="0"/>
              <a:t>Components</a:t>
            </a:r>
            <a:endParaRPr sz="5100"/>
          </a:p>
        </p:txBody>
      </p:sp>
      <p:sp>
        <p:nvSpPr>
          <p:cNvPr id="5" name="object 5"/>
          <p:cNvSpPr/>
          <p:nvPr/>
        </p:nvSpPr>
        <p:spPr>
          <a:xfrm>
            <a:off x="682848" y="3653823"/>
            <a:ext cx="4196715" cy="30480"/>
          </a:xfrm>
          <a:custGeom>
            <a:avLst/>
            <a:gdLst/>
            <a:ahLst/>
            <a:cxnLst/>
            <a:rect l="l" t="t" r="r" b="b"/>
            <a:pathLst>
              <a:path w="4196715" h="30480">
                <a:moveTo>
                  <a:pt x="4196358" y="30480"/>
                </a:moveTo>
                <a:lnTo>
                  <a:pt x="0" y="30480"/>
                </a:lnTo>
                <a:lnTo>
                  <a:pt x="0" y="0"/>
                </a:lnTo>
                <a:lnTo>
                  <a:pt x="4196358" y="0"/>
                </a:lnTo>
                <a:lnTo>
                  <a:pt x="4196358" y="30480"/>
                </a:lnTo>
                <a:close/>
              </a:path>
            </a:pathLst>
          </a:custGeom>
          <a:solidFill>
            <a:srgbClr val="FF9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81089" y="3310215"/>
            <a:ext cx="3411220" cy="120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330" dirty="0">
                <a:solidFill>
                  <a:srgbClr val="66534E"/>
                </a:solidFill>
                <a:latin typeface="Calibri"/>
                <a:cs typeface="Calibri"/>
              </a:rPr>
              <a:t>1.</a:t>
            </a:r>
            <a:r>
              <a:rPr sz="2550" spc="19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130" dirty="0">
                <a:solidFill>
                  <a:srgbClr val="66534E"/>
                </a:solidFill>
                <a:latin typeface="Calibri"/>
                <a:cs typeface="Calibri"/>
              </a:rPr>
              <a:t>Data</a:t>
            </a:r>
            <a:r>
              <a:rPr sz="2550" spc="1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125" dirty="0">
                <a:solidFill>
                  <a:srgbClr val="66534E"/>
                </a:solidFill>
                <a:latin typeface="Calibri"/>
                <a:cs typeface="Calibri"/>
              </a:rPr>
              <a:t>Loading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32100"/>
              </a:lnSpc>
              <a:spcBef>
                <a:spcPts val="650"/>
              </a:spcBef>
            </a:pPr>
            <a:r>
              <a:rPr sz="1750" spc="195" dirty="0">
                <a:solidFill>
                  <a:srgbClr val="66534E"/>
                </a:solidFill>
                <a:latin typeface="Calibri"/>
                <a:cs typeface="Calibri"/>
              </a:rPr>
              <a:t>Import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25" dirty="0">
                <a:solidFill>
                  <a:srgbClr val="66534E"/>
                </a:solidFill>
                <a:latin typeface="Calibri"/>
                <a:cs typeface="Calibri"/>
              </a:rPr>
              <a:t>triples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80" dirty="0">
                <a:solidFill>
                  <a:srgbClr val="66534E"/>
                </a:solidFill>
                <a:latin typeface="Calibri"/>
                <a:cs typeface="Calibri"/>
              </a:rPr>
              <a:t>from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60" dirty="0">
                <a:solidFill>
                  <a:srgbClr val="66534E"/>
                </a:solidFill>
                <a:latin typeface="Calibri"/>
                <a:cs typeface="Calibri"/>
              </a:rPr>
              <a:t>CSV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04" dirty="0">
                <a:solidFill>
                  <a:srgbClr val="66534E"/>
                </a:solidFill>
                <a:latin typeface="Calibri"/>
                <a:cs typeface="Calibri"/>
              </a:rPr>
              <a:t>using </a:t>
            </a:r>
            <a:r>
              <a:rPr sz="1750" spc="210" dirty="0">
                <a:solidFill>
                  <a:srgbClr val="66534E"/>
                </a:solidFill>
                <a:latin typeface="Calibri"/>
                <a:cs typeface="Calibri"/>
              </a:rPr>
              <a:t>pandas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29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60" dirty="0">
                <a:solidFill>
                  <a:srgbClr val="66534E"/>
                </a:solidFill>
                <a:latin typeface="Calibri"/>
                <a:cs typeface="Calibri"/>
              </a:rPr>
              <a:t>Streamlit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75" dirty="0">
                <a:solidFill>
                  <a:srgbClr val="66534E"/>
                </a:solidFill>
                <a:latin typeface="Calibri"/>
                <a:cs typeface="Calibri"/>
              </a:rPr>
              <a:t>caching.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76334" y="3669063"/>
            <a:ext cx="4196715" cy="30480"/>
          </a:xfrm>
          <a:custGeom>
            <a:avLst/>
            <a:gdLst/>
            <a:ahLst/>
            <a:cxnLst/>
            <a:rect l="l" t="t" r="r" b="b"/>
            <a:pathLst>
              <a:path w="4196715" h="30480">
                <a:moveTo>
                  <a:pt x="4196358" y="30480"/>
                </a:moveTo>
                <a:lnTo>
                  <a:pt x="0" y="30480"/>
                </a:lnTo>
                <a:lnTo>
                  <a:pt x="0" y="0"/>
                </a:lnTo>
                <a:lnTo>
                  <a:pt x="4196358" y="0"/>
                </a:lnTo>
                <a:lnTo>
                  <a:pt x="4196358" y="30480"/>
                </a:lnTo>
                <a:close/>
              </a:path>
            </a:pathLst>
          </a:custGeom>
          <a:solidFill>
            <a:srgbClr val="FF9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04262" y="3310215"/>
            <a:ext cx="4076700" cy="120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>
                <a:solidFill>
                  <a:srgbClr val="66534E"/>
                </a:solidFill>
                <a:latin typeface="Calibri"/>
                <a:cs typeface="Calibri"/>
              </a:rPr>
              <a:t>2.</a:t>
            </a:r>
            <a:r>
              <a:rPr sz="2550" spc="1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125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2550" spc="1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110" dirty="0">
                <a:solidFill>
                  <a:srgbClr val="66534E"/>
                </a:solidFill>
                <a:latin typeface="Calibri"/>
                <a:cs typeface="Calibri"/>
              </a:rPr>
              <a:t>Construction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32100"/>
              </a:lnSpc>
              <a:spcBef>
                <a:spcPts val="650"/>
              </a:spcBef>
            </a:pPr>
            <a:r>
              <a:rPr sz="1750" spc="195" dirty="0">
                <a:solidFill>
                  <a:srgbClr val="66534E"/>
                </a:solidFill>
                <a:latin typeface="Calibri"/>
                <a:cs typeface="Calibri"/>
              </a:rPr>
              <a:t>Build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60" dirty="0">
                <a:solidFill>
                  <a:srgbClr val="66534E"/>
                </a:solidFill>
                <a:latin typeface="Calibri"/>
                <a:cs typeface="Calibri"/>
              </a:rPr>
              <a:t>directed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10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70" dirty="0">
                <a:solidFill>
                  <a:srgbClr val="66534E"/>
                </a:solidFill>
                <a:latin typeface="Calibri"/>
                <a:cs typeface="Calibri"/>
              </a:rPr>
              <a:t>with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45" dirty="0">
                <a:solidFill>
                  <a:srgbClr val="66534E"/>
                </a:solidFill>
                <a:latin typeface="Calibri"/>
                <a:cs typeface="Calibri"/>
              </a:rPr>
              <a:t>NetworkX, </a:t>
            </a:r>
            <a:r>
              <a:rPr sz="1750" spc="195" dirty="0">
                <a:solidFill>
                  <a:srgbClr val="66534E"/>
                </a:solidFill>
                <a:latin typeface="Calibri"/>
                <a:cs typeface="Calibri"/>
              </a:rPr>
              <a:t>assign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15" dirty="0">
                <a:solidFill>
                  <a:srgbClr val="66534E"/>
                </a:solidFill>
                <a:latin typeface="Calibri"/>
                <a:cs typeface="Calibri"/>
              </a:rPr>
              <a:t>random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40" dirty="0">
                <a:solidFill>
                  <a:srgbClr val="66534E"/>
                </a:solidFill>
                <a:latin typeface="Calibri"/>
                <a:cs typeface="Calibri"/>
              </a:rPr>
              <a:t>colors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90" dirty="0">
                <a:solidFill>
                  <a:srgbClr val="66534E"/>
                </a:solidFill>
                <a:latin typeface="Calibri"/>
                <a:cs typeface="Calibri"/>
              </a:rPr>
              <a:t>by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30" dirty="0">
                <a:solidFill>
                  <a:srgbClr val="66534E"/>
                </a:solidFill>
                <a:latin typeface="Calibri"/>
                <a:cs typeface="Calibri"/>
              </a:rPr>
              <a:t>category.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93743" y="3653823"/>
            <a:ext cx="4196715" cy="30480"/>
          </a:xfrm>
          <a:custGeom>
            <a:avLst/>
            <a:gdLst/>
            <a:ahLst/>
            <a:cxnLst/>
            <a:rect l="l" t="t" r="r" b="b"/>
            <a:pathLst>
              <a:path w="4196715" h="30480">
                <a:moveTo>
                  <a:pt x="4196357" y="30480"/>
                </a:moveTo>
                <a:lnTo>
                  <a:pt x="0" y="30480"/>
                </a:lnTo>
                <a:lnTo>
                  <a:pt x="0" y="0"/>
                </a:lnTo>
                <a:lnTo>
                  <a:pt x="4196357" y="0"/>
                </a:lnTo>
                <a:lnTo>
                  <a:pt x="4196357" y="30480"/>
                </a:lnTo>
                <a:close/>
              </a:path>
            </a:pathLst>
          </a:custGeom>
          <a:solidFill>
            <a:srgbClr val="FF9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627432" y="3310215"/>
            <a:ext cx="3805554" cy="120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>
                <a:solidFill>
                  <a:srgbClr val="66534E"/>
                </a:solidFill>
                <a:latin typeface="Calibri"/>
                <a:cs typeface="Calibri"/>
              </a:rPr>
              <a:t>3.</a:t>
            </a:r>
            <a:r>
              <a:rPr sz="2550" spc="13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85" dirty="0">
                <a:solidFill>
                  <a:srgbClr val="66534E"/>
                </a:solidFill>
                <a:latin typeface="Calibri"/>
                <a:cs typeface="Calibri"/>
              </a:rPr>
              <a:t>Analytics</a:t>
            </a:r>
            <a:r>
              <a:rPr sz="2550" spc="14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90" dirty="0">
                <a:solidFill>
                  <a:srgbClr val="66534E"/>
                </a:solidFill>
                <a:latin typeface="Calibri"/>
                <a:cs typeface="Calibri"/>
              </a:rPr>
              <a:t>Engine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32100"/>
              </a:lnSpc>
              <a:spcBef>
                <a:spcPts val="650"/>
              </a:spcBef>
            </a:pPr>
            <a:r>
              <a:rPr sz="1750" spc="229" dirty="0">
                <a:solidFill>
                  <a:srgbClr val="66534E"/>
                </a:solidFill>
                <a:latin typeface="Calibri"/>
                <a:cs typeface="Calibri"/>
              </a:rPr>
              <a:t>Compute</a:t>
            </a:r>
            <a:r>
              <a:rPr sz="17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14" dirty="0">
                <a:solidFill>
                  <a:srgbClr val="66534E"/>
                </a:solidFill>
                <a:latin typeface="Calibri"/>
                <a:cs typeface="Calibri"/>
              </a:rPr>
              <a:t>centralities,</a:t>
            </a:r>
            <a:r>
              <a:rPr sz="17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60" dirty="0">
                <a:solidFill>
                  <a:srgbClr val="66534E"/>
                </a:solidFill>
                <a:latin typeface="Calibri"/>
                <a:cs typeface="Calibri"/>
              </a:rPr>
              <a:t>detect </a:t>
            </a:r>
            <a:r>
              <a:rPr sz="1750" spc="185" dirty="0">
                <a:solidFill>
                  <a:srgbClr val="66534E"/>
                </a:solidFill>
                <a:latin typeface="Calibri"/>
                <a:cs typeface="Calibri"/>
              </a:rPr>
              <a:t>communities,</a:t>
            </a:r>
            <a:r>
              <a:rPr sz="17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40" dirty="0">
                <a:solidFill>
                  <a:srgbClr val="66534E"/>
                </a:solidFill>
                <a:latin typeface="Calibri"/>
                <a:cs typeface="Calibri"/>
              </a:rPr>
              <a:t>visualize</a:t>
            </a:r>
            <a:r>
              <a:rPr sz="17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70" dirty="0">
                <a:solidFill>
                  <a:srgbClr val="66534E"/>
                </a:solidFill>
                <a:latin typeface="Calibri"/>
                <a:cs typeface="Calibri"/>
              </a:rPr>
              <a:t>with</a:t>
            </a:r>
            <a:r>
              <a:rPr sz="1750" spc="9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30" dirty="0">
                <a:solidFill>
                  <a:srgbClr val="66534E"/>
                </a:solidFill>
                <a:latin typeface="Calibri"/>
                <a:cs typeface="Calibri"/>
              </a:rPr>
              <a:t>PyVis.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1089" y="5789544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20" h="30479">
                <a:moveTo>
                  <a:pt x="6407944" y="30480"/>
                </a:moveTo>
                <a:lnTo>
                  <a:pt x="0" y="30480"/>
                </a:lnTo>
                <a:lnTo>
                  <a:pt x="0" y="0"/>
                </a:lnTo>
                <a:lnTo>
                  <a:pt x="6407944" y="0"/>
                </a:lnTo>
                <a:lnTo>
                  <a:pt x="6407944" y="30480"/>
                </a:lnTo>
                <a:close/>
              </a:path>
            </a:pathLst>
          </a:custGeom>
          <a:solidFill>
            <a:srgbClr val="FF9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81089" y="5397262"/>
            <a:ext cx="6039485" cy="120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>
                <a:solidFill>
                  <a:srgbClr val="66534E"/>
                </a:solidFill>
                <a:latin typeface="Calibri"/>
                <a:cs typeface="Calibri"/>
              </a:rPr>
              <a:t>4.</a:t>
            </a:r>
            <a:r>
              <a:rPr sz="2550" spc="21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95" dirty="0">
                <a:solidFill>
                  <a:srgbClr val="66534E"/>
                </a:solidFill>
                <a:latin typeface="Calibri"/>
                <a:cs typeface="Calibri"/>
              </a:rPr>
              <a:t>Semantic</a:t>
            </a:r>
            <a:r>
              <a:rPr sz="2550" spc="229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80" dirty="0">
                <a:solidFill>
                  <a:srgbClr val="66534E"/>
                </a:solidFill>
                <a:latin typeface="Calibri"/>
                <a:cs typeface="Calibri"/>
              </a:rPr>
              <a:t>Search</a:t>
            </a:r>
            <a:endParaRPr sz="2550">
              <a:latin typeface="Calibri"/>
              <a:cs typeface="Calibri"/>
            </a:endParaRPr>
          </a:p>
          <a:p>
            <a:pPr marL="12700" marR="5080">
              <a:lnSpc>
                <a:spcPct val="132100"/>
              </a:lnSpc>
              <a:spcBef>
                <a:spcPts val="650"/>
              </a:spcBef>
            </a:pPr>
            <a:r>
              <a:rPr sz="1750" spc="195" dirty="0">
                <a:solidFill>
                  <a:srgbClr val="66534E"/>
                </a:solidFill>
                <a:latin typeface="Calibri"/>
                <a:cs typeface="Calibri"/>
              </a:rPr>
              <a:t>Use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60" dirty="0">
                <a:solidFill>
                  <a:srgbClr val="66534E"/>
                </a:solidFill>
                <a:latin typeface="Calibri"/>
                <a:cs typeface="Calibri"/>
              </a:rPr>
              <a:t>SentenceTransformer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90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75" dirty="0">
                <a:solidFill>
                  <a:srgbClr val="66534E"/>
                </a:solidFill>
                <a:latin typeface="Calibri"/>
                <a:cs typeface="Calibri"/>
              </a:rPr>
              <a:t>question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95" dirty="0">
                <a:solidFill>
                  <a:srgbClr val="66534E"/>
                </a:solidFill>
                <a:latin typeface="Calibri"/>
                <a:cs typeface="Calibri"/>
              </a:rPr>
              <a:t>answering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05" dirty="0">
                <a:solidFill>
                  <a:srgbClr val="66534E"/>
                </a:solidFill>
                <a:latin typeface="Calibri"/>
                <a:cs typeface="Calibri"/>
              </a:rPr>
              <a:t>over </a:t>
            </a:r>
            <a:r>
              <a:rPr sz="1750" spc="90" dirty="0">
                <a:solidFill>
                  <a:srgbClr val="66534E"/>
                </a:solidFill>
                <a:latin typeface="Calibri"/>
                <a:cs typeface="Calibri"/>
              </a:rPr>
              <a:t>triples.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28644" y="5789544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19" h="30479">
                <a:moveTo>
                  <a:pt x="6407944" y="30480"/>
                </a:moveTo>
                <a:lnTo>
                  <a:pt x="0" y="30480"/>
                </a:lnTo>
                <a:lnTo>
                  <a:pt x="0" y="0"/>
                </a:lnTo>
                <a:lnTo>
                  <a:pt x="6407944" y="0"/>
                </a:lnTo>
                <a:lnTo>
                  <a:pt x="6407944" y="30480"/>
                </a:lnTo>
                <a:close/>
              </a:path>
            </a:pathLst>
          </a:custGeom>
          <a:solidFill>
            <a:srgbClr val="FF94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415847" y="5397262"/>
            <a:ext cx="58477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dirty="0">
                <a:solidFill>
                  <a:srgbClr val="66534E"/>
                </a:solidFill>
                <a:latin typeface="Calibri"/>
                <a:cs typeface="Calibri"/>
              </a:rPr>
              <a:t>5.</a:t>
            </a:r>
            <a:r>
              <a:rPr sz="2550" spc="85" dirty="0">
                <a:solidFill>
                  <a:srgbClr val="66534E"/>
                </a:solidFill>
                <a:latin typeface="Calibri"/>
                <a:cs typeface="Calibri"/>
              </a:rPr>
              <a:t> Interactive</a:t>
            </a:r>
            <a:r>
              <a:rPr sz="2550" spc="10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70" dirty="0">
                <a:solidFill>
                  <a:srgbClr val="66534E"/>
                </a:solidFill>
                <a:latin typeface="Calibri"/>
                <a:cs typeface="Calibri"/>
              </a:rPr>
              <a:t>UI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1750" spc="160" dirty="0">
                <a:solidFill>
                  <a:srgbClr val="66534E"/>
                </a:solidFill>
                <a:latin typeface="Calibri"/>
                <a:cs typeface="Calibri"/>
              </a:rPr>
              <a:t>Streamlit</a:t>
            </a:r>
            <a:r>
              <a:rPr sz="17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40" dirty="0">
                <a:solidFill>
                  <a:srgbClr val="66534E"/>
                </a:solidFill>
                <a:latin typeface="Calibri"/>
                <a:cs typeface="Calibri"/>
              </a:rPr>
              <a:t>interface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90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55" dirty="0">
                <a:solidFill>
                  <a:srgbClr val="66534E"/>
                </a:solidFill>
                <a:latin typeface="Calibri"/>
                <a:cs typeface="Calibri"/>
              </a:rPr>
              <a:t>analytics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29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45" dirty="0">
                <a:solidFill>
                  <a:srgbClr val="66534E"/>
                </a:solidFill>
                <a:latin typeface="Calibri"/>
                <a:cs typeface="Calibri"/>
              </a:rPr>
              <a:t>QA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20" dirty="0">
                <a:solidFill>
                  <a:srgbClr val="66534E"/>
                </a:solidFill>
                <a:latin typeface="Calibri"/>
                <a:cs typeface="Calibri"/>
              </a:rPr>
              <a:t>visualization.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ED1E2-342E-B152-2927-629470829FFD}"/>
              </a:ext>
            </a:extLst>
          </p:cNvPr>
          <p:cNvSpPr txBox="1"/>
          <p:nvPr/>
        </p:nvSpPr>
        <p:spPr>
          <a:xfrm>
            <a:off x="12801600" y="7772400"/>
            <a:ext cx="1752600" cy="457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8" cy="283035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2037" y="3251239"/>
            <a:ext cx="10222865" cy="764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spc="135" dirty="0"/>
              <a:t>Imports:</a:t>
            </a:r>
            <a:r>
              <a:rPr sz="4850" spc="355" dirty="0"/>
              <a:t> </a:t>
            </a:r>
            <a:r>
              <a:rPr sz="4850" spc="195" dirty="0"/>
              <a:t>Setting</a:t>
            </a:r>
            <a:r>
              <a:rPr sz="4850" spc="365" dirty="0"/>
              <a:t> </a:t>
            </a:r>
            <a:r>
              <a:rPr sz="4850" spc="290" dirty="0"/>
              <a:t>Up</a:t>
            </a:r>
            <a:r>
              <a:rPr sz="4850" spc="370" dirty="0"/>
              <a:t> </a:t>
            </a:r>
            <a:r>
              <a:rPr sz="4850" spc="200" dirty="0"/>
              <a:t>the</a:t>
            </a:r>
            <a:r>
              <a:rPr sz="4850" spc="365" dirty="0"/>
              <a:t> </a:t>
            </a:r>
            <a:r>
              <a:rPr sz="4850" spc="175" dirty="0"/>
              <a:t>Environment</a:t>
            </a:r>
            <a:endParaRPr sz="4850"/>
          </a:p>
        </p:txBody>
      </p:sp>
      <p:sp>
        <p:nvSpPr>
          <p:cNvPr id="4" name="object 4"/>
          <p:cNvSpPr txBox="1"/>
          <p:nvPr/>
        </p:nvSpPr>
        <p:spPr>
          <a:xfrm>
            <a:off x="742037" y="4314507"/>
            <a:ext cx="12764770" cy="329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600"/>
              </a:lnSpc>
              <a:spcBef>
                <a:spcPts val="100"/>
              </a:spcBef>
            </a:pPr>
            <a:r>
              <a:rPr sz="1650" spc="229" dirty="0">
                <a:solidFill>
                  <a:srgbClr val="66534E"/>
                </a:solidFill>
                <a:latin typeface="Calibri"/>
                <a:cs typeface="Calibri"/>
              </a:rPr>
              <a:t>Begin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80" dirty="0">
                <a:solidFill>
                  <a:srgbClr val="66534E"/>
                </a:solidFill>
                <a:latin typeface="Calibri"/>
                <a:cs typeface="Calibri"/>
              </a:rPr>
              <a:t>by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95" dirty="0">
                <a:solidFill>
                  <a:srgbClr val="66534E"/>
                </a:solidFill>
                <a:latin typeface="Calibri"/>
                <a:cs typeface="Calibri"/>
              </a:rPr>
              <a:t>importing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40" dirty="0">
                <a:solidFill>
                  <a:srgbClr val="66534E"/>
                </a:solidFill>
                <a:latin typeface="Calibri"/>
                <a:cs typeface="Calibri"/>
              </a:rPr>
              <a:t>essential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90" dirty="0">
                <a:solidFill>
                  <a:srgbClr val="66534E"/>
                </a:solidFill>
                <a:latin typeface="Calibri"/>
                <a:cs typeface="Calibri"/>
              </a:rPr>
              <a:t>libraries.</a:t>
            </a:r>
            <a:r>
              <a:rPr sz="16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50" dirty="0">
                <a:solidFill>
                  <a:srgbClr val="66534E"/>
                </a:solidFill>
                <a:latin typeface="Calibri"/>
                <a:cs typeface="Calibri"/>
              </a:rPr>
              <a:t>This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55" dirty="0">
                <a:solidFill>
                  <a:srgbClr val="66534E"/>
                </a:solidFill>
                <a:latin typeface="Calibri"/>
                <a:cs typeface="Calibri"/>
              </a:rPr>
              <a:t>foundational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55" dirty="0">
                <a:solidFill>
                  <a:srgbClr val="66534E"/>
                </a:solidFill>
                <a:latin typeface="Calibri"/>
                <a:cs typeface="Calibri"/>
              </a:rPr>
              <a:t>step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65" dirty="0">
                <a:solidFill>
                  <a:srgbClr val="66534E"/>
                </a:solidFill>
                <a:latin typeface="Calibri"/>
                <a:cs typeface="Calibri"/>
              </a:rPr>
              <a:t>ensures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66534E"/>
                </a:solidFill>
                <a:latin typeface="Calibri"/>
                <a:cs typeface="Calibri"/>
              </a:rPr>
              <a:t>access</a:t>
            </a:r>
            <a:r>
              <a:rPr sz="16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14" dirty="0">
                <a:solidFill>
                  <a:srgbClr val="66534E"/>
                </a:solidFill>
                <a:latin typeface="Calibri"/>
                <a:cs typeface="Calibri"/>
              </a:rPr>
              <a:t>to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66534E"/>
                </a:solidFill>
                <a:latin typeface="Calibri"/>
                <a:cs typeface="Calibri"/>
              </a:rPr>
              <a:t>data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70" dirty="0">
                <a:solidFill>
                  <a:srgbClr val="66534E"/>
                </a:solidFill>
                <a:latin typeface="Calibri"/>
                <a:cs typeface="Calibri"/>
              </a:rPr>
              <a:t>handling,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204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16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55" dirty="0">
                <a:solidFill>
                  <a:srgbClr val="66534E"/>
                </a:solidFill>
                <a:latin typeface="Calibri"/>
                <a:cs typeface="Calibri"/>
              </a:rPr>
              <a:t>algorithms,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80" dirty="0">
                <a:solidFill>
                  <a:srgbClr val="66534E"/>
                </a:solidFill>
                <a:latin typeface="Calibri"/>
                <a:cs typeface="Calibri"/>
              </a:rPr>
              <a:t>semantic </a:t>
            </a:r>
            <a:r>
              <a:rPr sz="1650" spc="200" dirty="0">
                <a:solidFill>
                  <a:srgbClr val="66534E"/>
                </a:solidFill>
                <a:latin typeface="Calibri"/>
                <a:cs typeface="Calibri"/>
              </a:rPr>
              <a:t>embeddings,</a:t>
            </a:r>
            <a:r>
              <a:rPr sz="16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22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6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35" dirty="0">
                <a:solidFill>
                  <a:srgbClr val="66534E"/>
                </a:solidFill>
                <a:latin typeface="Calibri"/>
                <a:cs typeface="Calibri"/>
              </a:rPr>
              <a:t>visualization</a:t>
            </a:r>
            <a:r>
              <a:rPr sz="16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75" dirty="0">
                <a:solidFill>
                  <a:srgbClr val="66534E"/>
                </a:solidFill>
                <a:latin typeface="Calibri"/>
                <a:cs typeface="Calibri"/>
              </a:rPr>
              <a:t>tools.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1650" b="1" spc="170" dirty="0">
                <a:solidFill>
                  <a:srgbClr val="66534E"/>
                </a:solidFill>
                <a:latin typeface="Calibri"/>
                <a:cs typeface="Calibri"/>
              </a:rPr>
              <a:t>streamlit</a:t>
            </a:r>
            <a:r>
              <a:rPr sz="1650" b="1" spc="10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b="1" spc="204" dirty="0">
                <a:solidFill>
                  <a:srgbClr val="66534E"/>
                </a:solidFill>
                <a:latin typeface="Calibri"/>
                <a:cs typeface="Calibri"/>
              </a:rPr>
              <a:t>as</a:t>
            </a:r>
            <a:r>
              <a:rPr sz="1650" b="1" spc="105" dirty="0">
                <a:solidFill>
                  <a:srgbClr val="66534E"/>
                </a:solidFill>
                <a:latin typeface="Calibri"/>
                <a:cs typeface="Calibri"/>
              </a:rPr>
              <a:t> st:</a:t>
            </a:r>
            <a:r>
              <a:rPr sz="1650" b="1" spc="13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80" dirty="0">
                <a:solidFill>
                  <a:srgbClr val="66534E"/>
                </a:solidFill>
                <a:latin typeface="Calibri"/>
                <a:cs typeface="Calibri"/>
              </a:rPr>
              <a:t>Builds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25" dirty="0">
                <a:solidFill>
                  <a:srgbClr val="66534E"/>
                </a:solidFill>
                <a:latin typeface="Calibri"/>
                <a:cs typeface="Calibri"/>
              </a:rPr>
              <a:t>interactive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215" dirty="0">
                <a:solidFill>
                  <a:srgbClr val="66534E"/>
                </a:solidFill>
                <a:latin typeface="Calibri"/>
                <a:cs typeface="Calibri"/>
              </a:rPr>
              <a:t>web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25" dirty="0">
                <a:solidFill>
                  <a:srgbClr val="66534E"/>
                </a:solidFill>
                <a:latin typeface="Calibri"/>
                <a:cs typeface="Calibri"/>
              </a:rPr>
              <a:t>app.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650" b="1" spc="220" dirty="0">
                <a:solidFill>
                  <a:srgbClr val="66534E"/>
                </a:solidFill>
                <a:latin typeface="Calibri"/>
                <a:cs typeface="Calibri"/>
              </a:rPr>
              <a:t>pandas</a:t>
            </a:r>
            <a:r>
              <a:rPr sz="1650" b="1" spc="10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b="1" spc="204" dirty="0">
                <a:solidFill>
                  <a:srgbClr val="66534E"/>
                </a:solidFill>
                <a:latin typeface="Calibri"/>
                <a:cs typeface="Calibri"/>
              </a:rPr>
              <a:t>as</a:t>
            </a:r>
            <a:r>
              <a:rPr sz="1650" b="1" spc="10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b="1" spc="155" dirty="0">
                <a:solidFill>
                  <a:srgbClr val="66534E"/>
                </a:solidFill>
                <a:latin typeface="Calibri"/>
                <a:cs typeface="Calibri"/>
              </a:rPr>
              <a:t>pd:</a:t>
            </a:r>
            <a:r>
              <a:rPr sz="1650" b="1" spc="13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95" dirty="0">
                <a:solidFill>
                  <a:srgbClr val="66534E"/>
                </a:solidFill>
                <a:latin typeface="Calibri"/>
                <a:cs typeface="Calibri"/>
              </a:rPr>
              <a:t>Loads</a:t>
            </a:r>
            <a:r>
              <a:rPr sz="16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22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6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55" dirty="0">
                <a:solidFill>
                  <a:srgbClr val="66534E"/>
                </a:solidFill>
                <a:latin typeface="Calibri"/>
                <a:cs typeface="Calibri"/>
              </a:rPr>
              <a:t>processes</a:t>
            </a:r>
            <a:r>
              <a:rPr sz="16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245" dirty="0">
                <a:solidFill>
                  <a:srgbClr val="66534E"/>
                </a:solidFill>
                <a:latin typeface="Calibri"/>
                <a:cs typeface="Calibri"/>
              </a:rPr>
              <a:t>CSV</a:t>
            </a:r>
            <a:r>
              <a:rPr sz="16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85" dirty="0">
                <a:solidFill>
                  <a:srgbClr val="66534E"/>
                </a:solidFill>
                <a:latin typeface="Calibri"/>
                <a:cs typeface="Calibri"/>
              </a:rPr>
              <a:t>triples.</a:t>
            </a:r>
            <a:endParaRPr sz="1650">
              <a:latin typeface="Calibri"/>
              <a:cs typeface="Calibri"/>
            </a:endParaRPr>
          </a:p>
          <a:p>
            <a:pPr marL="12700" marR="5692140">
              <a:lnSpc>
                <a:spcPct val="141400"/>
              </a:lnSpc>
            </a:pPr>
            <a:r>
              <a:rPr sz="1650" b="1" spc="204" dirty="0">
                <a:solidFill>
                  <a:srgbClr val="66534E"/>
                </a:solidFill>
                <a:latin typeface="Calibri"/>
                <a:cs typeface="Calibri"/>
              </a:rPr>
              <a:t>networkx</a:t>
            </a:r>
            <a:r>
              <a:rPr sz="1650" b="1" spc="9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b="1" spc="204" dirty="0">
                <a:solidFill>
                  <a:srgbClr val="66534E"/>
                </a:solidFill>
                <a:latin typeface="Calibri"/>
                <a:cs typeface="Calibri"/>
              </a:rPr>
              <a:t>as</a:t>
            </a:r>
            <a:r>
              <a:rPr sz="1650" b="1" spc="10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b="1" spc="135" dirty="0">
                <a:solidFill>
                  <a:srgbClr val="66534E"/>
                </a:solidFill>
                <a:latin typeface="Calibri"/>
                <a:cs typeface="Calibri"/>
              </a:rPr>
              <a:t>nx:</a:t>
            </a:r>
            <a:r>
              <a:rPr sz="1650" b="1" spc="12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55" dirty="0">
                <a:solidFill>
                  <a:srgbClr val="66534E"/>
                </a:solidFill>
                <a:latin typeface="Calibri"/>
                <a:cs typeface="Calibri"/>
              </a:rPr>
              <a:t>Core</a:t>
            </a:r>
            <a:r>
              <a:rPr sz="16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204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16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65" dirty="0">
                <a:solidFill>
                  <a:srgbClr val="66534E"/>
                </a:solidFill>
                <a:latin typeface="Calibri"/>
                <a:cs typeface="Calibri"/>
              </a:rPr>
              <a:t>construction</a:t>
            </a:r>
            <a:r>
              <a:rPr sz="16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22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6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05" dirty="0">
                <a:solidFill>
                  <a:srgbClr val="66534E"/>
                </a:solidFill>
                <a:latin typeface="Calibri"/>
                <a:cs typeface="Calibri"/>
              </a:rPr>
              <a:t>analysis. </a:t>
            </a:r>
            <a:r>
              <a:rPr sz="1650" b="1" spc="170" dirty="0">
                <a:solidFill>
                  <a:srgbClr val="66534E"/>
                </a:solidFill>
                <a:latin typeface="Calibri"/>
                <a:cs typeface="Calibri"/>
              </a:rPr>
              <a:t>pyvis.network.Network:</a:t>
            </a:r>
            <a:r>
              <a:rPr sz="1650" b="1" spc="1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50" dirty="0">
                <a:solidFill>
                  <a:srgbClr val="66534E"/>
                </a:solidFill>
                <a:latin typeface="Calibri"/>
                <a:cs typeface="Calibri"/>
              </a:rPr>
              <a:t>Generates</a:t>
            </a:r>
            <a:r>
              <a:rPr sz="16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25" dirty="0">
                <a:solidFill>
                  <a:srgbClr val="66534E"/>
                </a:solidFill>
                <a:latin typeface="Calibri"/>
                <a:cs typeface="Calibri"/>
              </a:rPr>
              <a:t>interactive</a:t>
            </a:r>
            <a:r>
              <a:rPr sz="16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215" dirty="0">
                <a:solidFill>
                  <a:srgbClr val="66534E"/>
                </a:solidFill>
                <a:latin typeface="Calibri"/>
                <a:cs typeface="Calibri"/>
              </a:rPr>
              <a:t>HTML</a:t>
            </a:r>
            <a:r>
              <a:rPr sz="16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14" dirty="0">
                <a:solidFill>
                  <a:srgbClr val="66534E"/>
                </a:solidFill>
                <a:latin typeface="Calibri"/>
                <a:cs typeface="Calibri"/>
              </a:rPr>
              <a:t>visualizations. </a:t>
            </a:r>
            <a:r>
              <a:rPr sz="1650" b="1" spc="170" dirty="0">
                <a:solidFill>
                  <a:srgbClr val="66534E"/>
                </a:solidFill>
                <a:latin typeface="Calibri"/>
                <a:cs typeface="Calibri"/>
              </a:rPr>
              <a:t>sentence_transformers:</a:t>
            </a:r>
            <a:r>
              <a:rPr sz="1650" b="1" spc="9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75" dirty="0">
                <a:solidFill>
                  <a:srgbClr val="66534E"/>
                </a:solidFill>
                <a:latin typeface="Calibri"/>
                <a:cs typeface="Calibri"/>
              </a:rPr>
              <a:t>Powers</a:t>
            </a:r>
            <a:r>
              <a:rPr sz="1650" spc="9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90" dirty="0">
                <a:solidFill>
                  <a:srgbClr val="66534E"/>
                </a:solidFill>
                <a:latin typeface="Calibri"/>
                <a:cs typeface="Calibri"/>
              </a:rPr>
              <a:t>semantic</a:t>
            </a:r>
            <a:r>
              <a:rPr sz="1650" spc="9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25" dirty="0">
                <a:solidFill>
                  <a:srgbClr val="66534E"/>
                </a:solidFill>
                <a:latin typeface="Calibri"/>
                <a:cs typeface="Calibri"/>
              </a:rPr>
              <a:t>similarity</a:t>
            </a:r>
            <a:r>
              <a:rPr sz="1650" spc="9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20" dirty="0">
                <a:solidFill>
                  <a:srgbClr val="66534E"/>
                </a:solidFill>
                <a:latin typeface="Calibri"/>
                <a:cs typeface="Calibri"/>
              </a:rPr>
              <a:t>search. </a:t>
            </a:r>
            <a:r>
              <a:rPr sz="1650" b="1" spc="165" dirty="0">
                <a:solidFill>
                  <a:srgbClr val="66534E"/>
                </a:solidFill>
                <a:latin typeface="Calibri"/>
                <a:cs typeface="Calibri"/>
              </a:rPr>
              <a:t>matplotlib.pyplot</a:t>
            </a:r>
            <a:r>
              <a:rPr sz="1650" b="1" spc="10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b="1" spc="204" dirty="0">
                <a:solidFill>
                  <a:srgbClr val="66534E"/>
                </a:solidFill>
                <a:latin typeface="Calibri"/>
                <a:cs typeface="Calibri"/>
              </a:rPr>
              <a:t>as</a:t>
            </a:r>
            <a:r>
              <a:rPr sz="1650" b="1" spc="10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b="1" spc="110" dirty="0">
                <a:solidFill>
                  <a:srgbClr val="66534E"/>
                </a:solidFill>
                <a:latin typeface="Calibri"/>
                <a:cs typeface="Calibri"/>
              </a:rPr>
              <a:t>plt:</a:t>
            </a:r>
            <a:r>
              <a:rPr sz="1650" b="1" spc="10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60" dirty="0">
                <a:solidFill>
                  <a:srgbClr val="66534E"/>
                </a:solidFill>
                <a:latin typeface="Calibri"/>
                <a:cs typeface="Calibri"/>
              </a:rPr>
              <a:t>Plots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20" dirty="0">
                <a:solidFill>
                  <a:srgbClr val="66534E"/>
                </a:solidFill>
                <a:latin typeface="Calibri"/>
                <a:cs typeface="Calibri"/>
              </a:rPr>
              <a:t>centrality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65" dirty="0">
                <a:solidFill>
                  <a:srgbClr val="66534E"/>
                </a:solidFill>
                <a:latin typeface="Calibri"/>
                <a:cs typeface="Calibri"/>
              </a:rPr>
              <a:t>bar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20" dirty="0">
                <a:solidFill>
                  <a:srgbClr val="66534E"/>
                </a:solidFill>
                <a:latin typeface="Calibri"/>
                <a:cs typeface="Calibri"/>
              </a:rPr>
              <a:t>charts.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650" b="1" spc="185" dirty="0">
                <a:solidFill>
                  <a:srgbClr val="66534E"/>
                </a:solidFill>
                <a:latin typeface="Calibri"/>
                <a:cs typeface="Calibri"/>
              </a:rPr>
              <a:t>random:</a:t>
            </a:r>
            <a:r>
              <a:rPr sz="1650" b="1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85" dirty="0">
                <a:solidFill>
                  <a:srgbClr val="66534E"/>
                </a:solidFill>
                <a:latin typeface="Calibri"/>
                <a:cs typeface="Calibri"/>
              </a:rPr>
              <a:t>Assigns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215" dirty="0">
                <a:solidFill>
                  <a:srgbClr val="66534E"/>
                </a:solidFill>
                <a:latin typeface="Calibri"/>
                <a:cs typeface="Calibri"/>
              </a:rPr>
              <a:t>dynamic</a:t>
            </a:r>
            <a:r>
              <a:rPr sz="16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30" dirty="0">
                <a:solidFill>
                  <a:srgbClr val="66534E"/>
                </a:solidFill>
                <a:latin typeface="Calibri"/>
                <a:cs typeface="Calibri"/>
              </a:rPr>
              <a:t>colors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14" dirty="0">
                <a:solidFill>
                  <a:srgbClr val="66534E"/>
                </a:solidFill>
                <a:latin typeface="Calibri"/>
                <a:cs typeface="Calibri"/>
              </a:rPr>
              <a:t>to</a:t>
            </a:r>
            <a:r>
              <a:rPr sz="16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650" spc="125" dirty="0">
                <a:solidFill>
                  <a:srgbClr val="66534E"/>
                </a:solidFill>
                <a:latin typeface="Calibri"/>
                <a:cs typeface="Calibri"/>
              </a:rPr>
              <a:t>categories.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1FDC6-D8B7-840B-2C65-85F8B07BAB38}"/>
              </a:ext>
            </a:extLst>
          </p:cNvPr>
          <p:cNvSpPr txBox="1"/>
          <p:nvPr/>
        </p:nvSpPr>
        <p:spPr>
          <a:xfrm>
            <a:off x="12801600" y="7610792"/>
            <a:ext cx="1828798" cy="6188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8" cy="24830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9406" y="2846902"/>
            <a:ext cx="9402445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50" spc="160" dirty="0"/>
              <a:t>Building</a:t>
            </a:r>
            <a:r>
              <a:rPr sz="4250" spc="320" dirty="0"/>
              <a:t> </a:t>
            </a:r>
            <a:r>
              <a:rPr sz="4250" spc="180" dirty="0"/>
              <a:t>the</a:t>
            </a:r>
            <a:r>
              <a:rPr sz="4250" spc="315" dirty="0"/>
              <a:t> </a:t>
            </a:r>
            <a:r>
              <a:rPr sz="4250" spc="150" dirty="0"/>
              <a:t>Graph:</a:t>
            </a:r>
            <a:r>
              <a:rPr sz="4250" spc="315" dirty="0"/>
              <a:t> </a:t>
            </a:r>
            <a:r>
              <a:rPr sz="4250" spc="320" dirty="0"/>
              <a:t>Core </a:t>
            </a:r>
            <a:r>
              <a:rPr sz="4250" spc="195" dirty="0"/>
              <a:t>Construction</a:t>
            </a:r>
            <a:endParaRPr sz="4250"/>
          </a:p>
        </p:txBody>
      </p:sp>
      <p:sp>
        <p:nvSpPr>
          <p:cNvPr id="4" name="object 4"/>
          <p:cNvSpPr txBox="1"/>
          <p:nvPr/>
        </p:nvSpPr>
        <p:spPr>
          <a:xfrm>
            <a:off x="649406" y="3795078"/>
            <a:ext cx="1294765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100"/>
              </a:spcBef>
            </a:pPr>
            <a:r>
              <a:rPr sz="1450" spc="125" dirty="0">
                <a:solidFill>
                  <a:srgbClr val="66534E"/>
                </a:solidFill>
                <a:latin typeface="Calibri"/>
                <a:cs typeface="Calibri"/>
              </a:rPr>
              <a:t>This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65" dirty="0">
                <a:solidFill>
                  <a:srgbClr val="66534E"/>
                </a:solidFill>
                <a:latin typeface="Calibri"/>
                <a:cs typeface="Calibri"/>
              </a:rPr>
              <a:t>phase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5" dirty="0">
                <a:solidFill>
                  <a:srgbClr val="66534E"/>
                </a:solidFill>
                <a:latin typeface="Calibri"/>
                <a:cs typeface="Calibri"/>
              </a:rPr>
              <a:t>converts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25" dirty="0">
                <a:solidFill>
                  <a:srgbClr val="66534E"/>
                </a:solidFill>
                <a:latin typeface="Calibri"/>
                <a:cs typeface="Calibri"/>
              </a:rPr>
              <a:t>raw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70" dirty="0">
                <a:solidFill>
                  <a:srgbClr val="66534E"/>
                </a:solidFill>
                <a:latin typeface="Calibri"/>
                <a:cs typeface="Calibri"/>
              </a:rPr>
              <a:t>knowledge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05" dirty="0">
                <a:solidFill>
                  <a:srgbClr val="66534E"/>
                </a:solidFill>
                <a:latin typeface="Calibri"/>
                <a:cs typeface="Calibri"/>
              </a:rPr>
              <a:t>triples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4" dirty="0">
                <a:solidFill>
                  <a:srgbClr val="66534E"/>
                </a:solidFill>
                <a:latin typeface="Calibri"/>
                <a:cs typeface="Calibri"/>
              </a:rPr>
              <a:t>into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50" dirty="0">
                <a:solidFill>
                  <a:srgbClr val="66534E"/>
                </a:solidFill>
                <a:latin typeface="Calibri"/>
                <a:cs typeface="Calibri"/>
              </a:rPr>
              <a:t>a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20" dirty="0">
                <a:solidFill>
                  <a:srgbClr val="66534E"/>
                </a:solidFill>
                <a:latin typeface="Calibri"/>
                <a:cs typeface="Calibri"/>
              </a:rPr>
              <a:t>structured,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4" dirty="0">
                <a:solidFill>
                  <a:srgbClr val="66534E"/>
                </a:solidFill>
                <a:latin typeface="Calibri"/>
                <a:cs typeface="Calibri"/>
              </a:rPr>
              <a:t>visual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45" dirty="0">
                <a:solidFill>
                  <a:srgbClr val="66534E"/>
                </a:solidFill>
                <a:latin typeface="Calibri"/>
                <a:cs typeface="Calibri"/>
              </a:rPr>
              <a:t>network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75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75" dirty="0">
                <a:solidFill>
                  <a:srgbClr val="66534E"/>
                </a:solidFill>
                <a:latin typeface="Calibri"/>
                <a:cs typeface="Calibri"/>
              </a:rPr>
              <a:t>using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0" dirty="0">
                <a:solidFill>
                  <a:srgbClr val="66534E"/>
                </a:solidFill>
                <a:latin typeface="Calibri"/>
                <a:cs typeface="Calibri"/>
              </a:rPr>
              <a:t>NetworkX.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70" dirty="0">
                <a:solidFill>
                  <a:srgbClr val="66534E"/>
                </a:solidFill>
                <a:latin typeface="Calibri"/>
                <a:cs typeface="Calibri"/>
              </a:rPr>
              <a:t>Nodes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9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5" dirty="0">
                <a:solidFill>
                  <a:srgbClr val="66534E"/>
                </a:solidFill>
                <a:latin typeface="Calibri"/>
                <a:cs typeface="Calibri"/>
              </a:rPr>
              <a:t>directed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85" dirty="0">
                <a:solidFill>
                  <a:srgbClr val="66534E"/>
                </a:solidFill>
                <a:latin typeface="Calibri"/>
                <a:cs typeface="Calibri"/>
              </a:rPr>
              <a:t>edges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4" dirty="0">
                <a:solidFill>
                  <a:srgbClr val="66534E"/>
                </a:solidFill>
                <a:latin typeface="Calibri"/>
                <a:cs typeface="Calibri"/>
              </a:rPr>
              <a:t>are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5" dirty="0">
                <a:solidFill>
                  <a:srgbClr val="66534E"/>
                </a:solidFill>
                <a:latin typeface="Calibri"/>
                <a:cs typeface="Calibri"/>
              </a:rPr>
              <a:t>created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for </a:t>
            </a:r>
            <a:r>
              <a:rPr sz="1450" spc="110" dirty="0">
                <a:solidFill>
                  <a:srgbClr val="66534E"/>
                </a:solidFill>
                <a:latin typeface="Calibri"/>
                <a:cs typeface="Calibri"/>
              </a:rPr>
              <a:t>entities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9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0" dirty="0">
                <a:solidFill>
                  <a:srgbClr val="66534E"/>
                </a:solidFill>
                <a:latin typeface="Calibri"/>
                <a:cs typeface="Calibri"/>
              </a:rPr>
              <a:t>their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0" dirty="0">
                <a:solidFill>
                  <a:srgbClr val="66534E"/>
                </a:solidFill>
                <a:latin typeface="Calibri"/>
                <a:cs typeface="Calibri"/>
              </a:rPr>
              <a:t>relationships,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40" dirty="0">
                <a:solidFill>
                  <a:srgbClr val="66534E"/>
                </a:solidFill>
                <a:latin typeface="Calibri"/>
                <a:cs typeface="Calibri"/>
              </a:rPr>
              <a:t>with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0" dirty="0">
                <a:solidFill>
                  <a:srgbClr val="66534E"/>
                </a:solidFill>
                <a:latin typeface="Calibri"/>
                <a:cs typeface="Calibri"/>
              </a:rPr>
              <a:t>distinct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0" dirty="0">
                <a:solidFill>
                  <a:srgbClr val="66534E"/>
                </a:solidFill>
                <a:latin typeface="Calibri"/>
                <a:cs typeface="Calibri"/>
              </a:rPr>
              <a:t>color-</a:t>
            </a:r>
            <a:r>
              <a:rPr sz="1450" spc="180" dirty="0">
                <a:solidFill>
                  <a:srgbClr val="66534E"/>
                </a:solidFill>
                <a:latin typeface="Calibri"/>
                <a:cs typeface="Calibri"/>
              </a:rPr>
              <a:t>coding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85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05" dirty="0">
                <a:solidFill>
                  <a:srgbClr val="66534E"/>
                </a:solidFill>
                <a:latin typeface="Calibri"/>
                <a:cs typeface="Calibri"/>
              </a:rPr>
              <a:t>categories.</a:t>
            </a:r>
            <a:endParaRPr sz="14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62106" y="4568730"/>
            <a:ext cx="13306425" cy="448945"/>
            <a:chOff x="662106" y="4568730"/>
            <a:chExt cx="13306425" cy="448945"/>
          </a:xfrm>
        </p:grpSpPr>
        <p:sp>
          <p:nvSpPr>
            <p:cNvPr id="6" name="object 6"/>
            <p:cNvSpPr/>
            <p:nvPr/>
          </p:nvSpPr>
          <p:spPr>
            <a:xfrm>
              <a:off x="662106" y="4792980"/>
              <a:ext cx="13306425" cy="22860"/>
            </a:xfrm>
            <a:custGeom>
              <a:avLst/>
              <a:gdLst/>
              <a:ahLst/>
              <a:cxnLst/>
              <a:rect l="l" t="t" r="r" b="b"/>
              <a:pathLst>
                <a:path w="13306425" h="22860">
                  <a:moveTo>
                    <a:pt x="13301069" y="22859"/>
                  </a:moveTo>
                  <a:lnTo>
                    <a:pt x="5117" y="22859"/>
                  </a:lnTo>
                  <a:lnTo>
                    <a:pt x="0" y="17742"/>
                  </a:lnTo>
                  <a:lnTo>
                    <a:pt x="0" y="11430"/>
                  </a:lnTo>
                  <a:lnTo>
                    <a:pt x="0" y="5117"/>
                  </a:lnTo>
                  <a:lnTo>
                    <a:pt x="5117" y="0"/>
                  </a:lnTo>
                  <a:lnTo>
                    <a:pt x="13297788" y="0"/>
                  </a:lnTo>
                  <a:lnTo>
                    <a:pt x="13300696" y="1204"/>
                  </a:lnTo>
                  <a:lnTo>
                    <a:pt x="13302839" y="3347"/>
                  </a:lnTo>
                  <a:lnTo>
                    <a:pt x="13304981" y="5491"/>
                  </a:lnTo>
                  <a:lnTo>
                    <a:pt x="13306186" y="8398"/>
                  </a:lnTo>
                  <a:lnTo>
                    <a:pt x="13306186" y="17742"/>
                  </a:lnTo>
                  <a:lnTo>
                    <a:pt x="13301069" y="2285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88061" y="4580155"/>
              <a:ext cx="426084" cy="426084"/>
            </a:xfrm>
            <a:custGeom>
              <a:avLst/>
              <a:gdLst/>
              <a:ahLst/>
              <a:cxnLst/>
              <a:rect l="l" t="t" r="r" b="b"/>
              <a:pathLst>
                <a:path w="426085" h="426085">
                  <a:moveTo>
                    <a:pt x="346188" y="425648"/>
                  </a:moveTo>
                  <a:lnTo>
                    <a:pt x="79459" y="425648"/>
                  </a:lnTo>
                  <a:lnTo>
                    <a:pt x="48530" y="419403"/>
                  </a:lnTo>
                  <a:lnTo>
                    <a:pt x="23273" y="402374"/>
                  </a:lnTo>
                  <a:lnTo>
                    <a:pt x="6244" y="377117"/>
                  </a:lnTo>
                  <a:lnTo>
                    <a:pt x="0" y="346188"/>
                  </a:lnTo>
                  <a:lnTo>
                    <a:pt x="0" y="79460"/>
                  </a:lnTo>
                  <a:lnTo>
                    <a:pt x="6244" y="48530"/>
                  </a:lnTo>
                  <a:lnTo>
                    <a:pt x="23273" y="23273"/>
                  </a:lnTo>
                  <a:lnTo>
                    <a:pt x="48530" y="6244"/>
                  </a:lnTo>
                  <a:lnTo>
                    <a:pt x="79459" y="0"/>
                  </a:lnTo>
                  <a:lnTo>
                    <a:pt x="346188" y="0"/>
                  </a:lnTo>
                  <a:lnTo>
                    <a:pt x="390272" y="13350"/>
                  </a:lnTo>
                  <a:lnTo>
                    <a:pt x="419599" y="49052"/>
                  </a:lnTo>
                  <a:lnTo>
                    <a:pt x="425648" y="79460"/>
                  </a:lnTo>
                  <a:lnTo>
                    <a:pt x="425648" y="346188"/>
                  </a:lnTo>
                  <a:lnTo>
                    <a:pt x="419403" y="377117"/>
                  </a:lnTo>
                  <a:lnTo>
                    <a:pt x="402374" y="402374"/>
                  </a:lnTo>
                  <a:lnTo>
                    <a:pt x="377117" y="419403"/>
                  </a:lnTo>
                  <a:lnTo>
                    <a:pt x="346188" y="425648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88061" y="4580155"/>
              <a:ext cx="426084" cy="426084"/>
            </a:xfrm>
            <a:custGeom>
              <a:avLst/>
              <a:gdLst/>
              <a:ahLst/>
              <a:cxnLst/>
              <a:rect l="l" t="t" r="r" b="b"/>
              <a:pathLst>
                <a:path w="426085" h="426085">
                  <a:moveTo>
                    <a:pt x="0" y="79460"/>
                  </a:moveTo>
                  <a:lnTo>
                    <a:pt x="6244" y="48530"/>
                  </a:lnTo>
                  <a:lnTo>
                    <a:pt x="23273" y="23273"/>
                  </a:lnTo>
                  <a:lnTo>
                    <a:pt x="48530" y="6244"/>
                  </a:lnTo>
                  <a:lnTo>
                    <a:pt x="79459" y="0"/>
                  </a:lnTo>
                  <a:lnTo>
                    <a:pt x="346188" y="0"/>
                  </a:lnTo>
                  <a:lnTo>
                    <a:pt x="390272" y="13350"/>
                  </a:lnTo>
                  <a:lnTo>
                    <a:pt x="419599" y="49052"/>
                  </a:lnTo>
                  <a:lnTo>
                    <a:pt x="425648" y="79460"/>
                  </a:lnTo>
                  <a:lnTo>
                    <a:pt x="425648" y="346188"/>
                  </a:lnTo>
                  <a:lnTo>
                    <a:pt x="419403" y="377117"/>
                  </a:lnTo>
                  <a:lnTo>
                    <a:pt x="402374" y="402374"/>
                  </a:lnTo>
                  <a:lnTo>
                    <a:pt x="377117" y="419403"/>
                  </a:lnTo>
                  <a:lnTo>
                    <a:pt x="346188" y="425648"/>
                  </a:lnTo>
                  <a:lnTo>
                    <a:pt x="79459" y="425648"/>
                  </a:lnTo>
                  <a:lnTo>
                    <a:pt x="48530" y="419403"/>
                  </a:lnTo>
                  <a:lnTo>
                    <a:pt x="23273" y="402374"/>
                  </a:lnTo>
                  <a:lnTo>
                    <a:pt x="6244" y="377117"/>
                  </a:lnTo>
                  <a:lnTo>
                    <a:pt x="0" y="346188"/>
                  </a:lnTo>
                  <a:lnTo>
                    <a:pt x="0" y="79460"/>
                  </a:lnTo>
                  <a:close/>
                </a:path>
              </a:pathLst>
            </a:custGeom>
            <a:ln w="228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02196" y="4580155"/>
              <a:ext cx="426084" cy="426084"/>
            </a:xfrm>
            <a:custGeom>
              <a:avLst/>
              <a:gdLst/>
              <a:ahLst/>
              <a:cxnLst/>
              <a:rect l="l" t="t" r="r" b="b"/>
              <a:pathLst>
                <a:path w="426084" h="426085">
                  <a:moveTo>
                    <a:pt x="346188" y="425648"/>
                  </a:moveTo>
                  <a:lnTo>
                    <a:pt x="79459" y="425648"/>
                  </a:lnTo>
                  <a:lnTo>
                    <a:pt x="48530" y="419403"/>
                  </a:lnTo>
                  <a:lnTo>
                    <a:pt x="23273" y="402374"/>
                  </a:lnTo>
                  <a:lnTo>
                    <a:pt x="6244" y="377117"/>
                  </a:lnTo>
                  <a:lnTo>
                    <a:pt x="0" y="346188"/>
                  </a:lnTo>
                  <a:lnTo>
                    <a:pt x="0" y="79460"/>
                  </a:lnTo>
                  <a:lnTo>
                    <a:pt x="6244" y="48530"/>
                  </a:lnTo>
                  <a:lnTo>
                    <a:pt x="23273" y="23273"/>
                  </a:lnTo>
                  <a:lnTo>
                    <a:pt x="48530" y="6244"/>
                  </a:lnTo>
                  <a:lnTo>
                    <a:pt x="79459" y="0"/>
                  </a:lnTo>
                  <a:lnTo>
                    <a:pt x="346188" y="0"/>
                  </a:lnTo>
                  <a:lnTo>
                    <a:pt x="390272" y="13350"/>
                  </a:lnTo>
                  <a:lnTo>
                    <a:pt x="419599" y="49052"/>
                  </a:lnTo>
                  <a:lnTo>
                    <a:pt x="425648" y="79460"/>
                  </a:lnTo>
                  <a:lnTo>
                    <a:pt x="425648" y="346188"/>
                  </a:lnTo>
                  <a:lnTo>
                    <a:pt x="419403" y="377117"/>
                  </a:lnTo>
                  <a:lnTo>
                    <a:pt x="402374" y="402374"/>
                  </a:lnTo>
                  <a:lnTo>
                    <a:pt x="377117" y="419403"/>
                  </a:lnTo>
                  <a:lnTo>
                    <a:pt x="346188" y="425648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02196" y="4580155"/>
              <a:ext cx="426084" cy="426084"/>
            </a:xfrm>
            <a:custGeom>
              <a:avLst/>
              <a:gdLst/>
              <a:ahLst/>
              <a:cxnLst/>
              <a:rect l="l" t="t" r="r" b="b"/>
              <a:pathLst>
                <a:path w="426084" h="426085">
                  <a:moveTo>
                    <a:pt x="0" y="79460"/>
                  </a:moveTo>
                  <a:lnTo>
                    <a:pt x="6244" y="48530"/>
                  </a:lnTo>
                  <a:lnTo>
                    <a:pt x="23273" y="23273"/>
                  </a:lnTo>
                  <a:lnTo>
                    <a:pt x="48530" y="6244"/>
                  </a:lnTo>
                  <a:lnTo>
                    <a:pt x="79459" y="0"/>
                  </a:lnTo>
                  <a:lnTo>
                    <a:pt x="346188" y="0"/>
                  </a:lnTo>
                  <a:lnTo>
                    <a:pt x="390272" y="13350"/>
                  </a:lnTo>
                  <a:lnTo>
                    <a:pt x="419599" y="49052"/>
                  </a:lnTo>
                  <a:lnTo>
                    <a:pt x="425648" y="79460"/>
                  </a:lnTo>
                  <a:lnTo>
                    <a:pt x="425648" y="346188"/>
                  </a:lnTo>
                  <a:lnTo>
                    <a:pt x="419403" y="377117"/>
                  </a:lnTo>
                  <a:lnTo>
                    <a:pt x="402374" y="402374"/>
                  </a:lnTo>
                  <a:lnTo>
                    <a:pt x="377117" y="419403"/>
                  </a:lnTo>
                  <a:lnTo>
                    <a:pt x="346188" y="425648"/>
                  </a:lnTo>
                  <a:lnTo>
                    <a:pt x="79459" y="425648"/>
                  </a:lnTo>
                  <a:lnTo>
                    <a:pt x="48530" y="419403"/>
                  </a:lnTo>
                  <a:lnTo>
                    <a:pt x="23273" y="402374"/>
                  </a:lnTo>
                  <a:lnTo>
                    <a:pt x="6244" y="377117"/>
                  </a:lnTo>
                  <a:lnTo>
                    <a:pt x="0" y="346188"/>
                  </a:lnTo>
                  <a:lnTo>
                    <a:pt x="0" y="79460"/>
                  </a:lnTo>
                  <a:close/>
                </a:path>
              </a:pathLst>
            </a:custGeom>
            <a:ln w="228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616452" y="4580155"/>
              <a:ext cx="426084" cy="426084"/>
            </a:xfrm>
            <a:custGeom>
              <a:avLst/>
              <a:gdLst/>
              <a:ahLst/>
              <a:cxnLst/>
              <a:rect l="l" t="t" r="r" b="b"/>
              <a:pathLst>
                <a:path w="426084" h="426085">
                  <a:moveTo>
                    <a:pt x="346187" y="425648"/>
                  </a:moveTo>
                  <a:lnTo>
                    <a:pt x="79459" y="425648"/>
                  </a:lnTo>
                  <a:lnTo>
                    <a:pt x="48530" y="419403"/>
                  </a:lnTo>
                  <a:lnTo>
                    <a:pt x="23273" y="402374"/>
                  </a:lnTo>
                  <a:lnTo>
                    <a:pt x="6244" y="377117"/>
                  </a:lnTo>
                  <a:lnTo>
                    <a:pt x="0" y="346188"/>
                  </a:lnTo>
                  <a:lnTo>
                    <a:pt x="0" y="79460"/>
                  </a:lnTo>
                  <a:lnTo>
                    <a:pt x="6244" y="48530"/>
                  </a:lnTo>
                  <a:lnTo>
                    <a:pt x="23273" y="23273"/>
                  </a:lnTo>
                  <a:lnTo>
                    <a:pt x="48530" y="6244"/>
                  </a:lnTo>
                  <a:lnTo>
                    <a:pt x="79459" y="0"/>
                  </a:lnTo>
                  <a:lnTo>
                    <a:pt x="346187" y="0"/>
                  </a:lnTo>
                  <a:lnTo>
                    <a:pt x="390272" y="13350"/>
                  </a:lnTo>
                  <a:lnTo>
                    <a:pt x="419599" y="49052"/>
                  </a:lnTo>
                  <a:lnTo>
                    <a:pt x="425647" y="79460"/>
                  </a:lnTo>
                  <a:lnTo>
                    <a:pt x="425647" y="346188"/>
                  </a:lnTo>
                  <a:lnTo>
                    <a:pt x="419403" y="377117"/>
                  </a:lnTo>
                  <a:lnTo>
                    <a:pt x="402374" y="402374"/>
                  </a:lnTo>
                  <a:lnTo>
                    <a:pt x="377116" y="419403"/>
                  </a:lnTo>
                  <a:lnTo>
                    <a:pt x="346187" y="425648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616452" y="4580155"/>
              <a:ext cx="426084" cy="426084"/>
            </a:xfrm>
            <a:custGeom>
              <a:avLst/>
              <a:gdLst/>
              <a:ahLst/>
              <a:cxnLst/>
              <a:rect l="l" t="t" r="r" b="b"/>
              <a:pathLst>
                <a:path w="426084" h="426085">
                  <a:moveTo>
                    <a:pt x="0" y="79460"/>
                  </a:moveTo>
                  <a:lnTo>
                    <a:pt x="6244" y="48530"/>
                  </a:lnTo>
                  <a:lnTo>
                    <a:pt x="23273" y="23273"/>
                  </a:lnTo>
                  <a:lnTo>
                    <a:pt x="48530" y="6244"/>
                  </a:lnTo>
                  <a:lnTo>
                    <a:pt x="79459" y="0"/>
                  </a:lnTo>
                  <a:lnTo>
                    <a:pt x="346187" y="0"/>
                  </a:lnTo>
                  <a:lnTo>
                    <a:pt x="390272" y="13350"/>
                  </a:lnTo>
                  <a:lnTo>
                    <a:pt x="419599" y="49052"/>
                  </a:lnTo>
                  <a:lnTo>
                    <a:pt x="425647" y="79460"/>
                  </a:lnTo>
                  <a:lnTo>
                    <a:pt x="425647" y="346188"/>
                  </a:lnTo>
                  <a:lnTo>
                    <a:pt x="419403" y="377117"/>
                  </a:lnTo>
                  <a:lnTo>
                    <a:pt x="402374" y="402374"/>
                  </a:lnTo>
                  <a:lnTo>
                    <a:pt x="377116" y="419403"/>
                  </a:lnTo>
                  <a:lnTo>
                    <a:pt x="346187" y="425648"/>
                  </a:lnTo>
                  <a:lnTo>
                    <a:pt x="79459" y="425648"/>
                  </a:lnTo>
                  <a:lnTo>
                    <a:pt x="48530" y="419403"/>
                  </a:lnTo>
                  <a:lnTo>
                    <a:pt x="23273" y="402374"/>
                  </a:lnTo>
                  <a:lnTo>
                    <a:pt x="6244" y="377117"/>
                  </a:lnTo>
                  <a:lnTo>
                    <a:pt x="0" y="346188"/>
                  </a:lnTo>
                  <a:lnTo>
                    <a:pt x="0" y="79460"/>
                  </a:lnTo>
                  <a:close/>
                </a:path>
              </a:pathLst>
            </a:custGeom>
            <a:ln w="228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86271" y="5073768"/>
            <a:ext cx="3024505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5965" marR="5080" indent="-723900">
              <a:lnSpc>
                <a:spcPct val="131000"/>
              </a:lnSpc>
              <a:spcBef>
                <a:spcPts val="95"/>
              </a:spcBef>
            </a:pPr>
            <a:r>
              <a:rPr sz="2100" spc="55" dirty="0">
                <a:solidFill>
                  <a:srgbClr val="66534E"/>
                </a:solidFill>
                <a:latin typeface="Calibri"/>
                <a:cs typeface="Calibri"/>
              </a:rPr>
              <a:t>Initialize</a:t>
            </a:r>
            <a:r>
              <a:rPr sz="2100" spc="1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100" spc="75" dirty="0">
                <a:solidFill>
                  <a:srgbClr val="66534E"/>
                </a:solidFill>
                <a:latin typeface="Calibri"/>
                <a:cs typeface="Calibri"/>
              </a:rPr>
              <a:t>Graph:</a:t>
            </a:r>
            <a:r>
              <a:rPr sz="2100" spc="1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100" spc="95" dirty="0">
                <a:solidFill>
                  <a:srgbClr val="66534E"/>
                </a:solidFill>
                <a:latin typeface="Calibri"/>
                <a:cs typeface="Calibri"/>
              </a:rPr>
              <a:t>Directed </a:t>
            </a:r>
            <a:r>
              <a:rPr sz="2100" spc="35" dirty="0">
                <a:solidFill>
                  <a:srgbClr val="66534E"/>
                </a:solidFill>
                <a:latin typeface="Calibri"/>
                <a:cs typeface="Calibri"/>
              </a:rPr>
              <a:t>Relationships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68846" y="6015514"/>
            <a:ext cx="1823085" cy="228600"/>
          </a:xfrm>
          <a:prstGeom prst="rect">
            <a:avLst/>
          </a:prstGeom>
          <a:solidFill>
            <a:srgbClr val="F1F1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4"/>
              </a:lnSpc>
            </a:pPr>
            <a:r>
              <a:rPr sz="1450" spc="-10" dirty="0">
                <a:solidFill>
                  <a:srgbClr val="66534E"/>
                </a:solidFill>
                <a:latin typeface="Consolas"/>
                <a:cs typeface="Consolas"/>
              </a:rPr>
              <a:t>networkx.DiGraph()</a:t>
            </a:r>
            <a:endParaRPr sz="145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1996" y="5999639"/>
            <a:ext cx="284988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67560" algn="l"/>
              </a:tabLst>
            </a:pPr>
            <a:r>
              <a:rPr sz="1450" spc="150" dirty="0">
                <a:solidFill>
                  <a:srgbClr val="66534E"/>
                </a:solidFill>
                <a:latin typeface="Calibri"/>
                <a:cs typeface="Calibri"/>
              </a:rPr>
              <a:t>A</a:t>
            </a:r>
            <a:r>
              <a:rPr sz="1450" dirty="0">
                <a:solidFill>
                  <a:srgbClr val="66534E"/>
                </a:solidFill>
                <a:latin typeface="Calibri"/>
                <a:cs typeface="Calibri"/>
              </a:rPr>
              <a:t>	</a:t>
            </a:r>
            <a:r>
              <a:rPr sz="1450" spc="135" dirty="0">
                <a:solidFill>
                  <a:srgbClr val="66534E"/>
                </a:solidFill>
                <a:latin typeface="Calibri"/>
                <a:cs typeface="Calibri"/>
              </a:rPr>
              <a:t>object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is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4347" y="6220619"/>
            <a:ext cx="333946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9299"/>
              </a:lnSpc>
              <a:spcBef>
                <a:spcPts val="100"/>
              </a:spcBef>
            </a:pPr>
            <a:r>
              <a:rPr sz="1450" spc="125" dirty="0">
                <a:solidFill>
                  <a:srgbClr val="66534E"/>
                </a:solidFill>
                <a:latin typeface="Calibri"/>
                <a:cs typeface="Calibri"/>
              </a:rPr>
              <a:t>instantiated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05" dirty="0">
                <a:solidFill>
                  <a:srgbClr val="66534E"/>
                </a:solidFill>
                <a:latin typeface="Calibri"/>
                <a:cs typeface="Calibri"/>
              </a:rPr>
              <a:t>to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0" dirty="0">
                <a:solidFill>
                  <a:srgbClr val="66534E"/>
                </a:solidFill>
                <a:latin typeface="Calibri"/>
                <a:cs typeface="Calibri"/>
              </a:rPr>
              <a:t>represent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0" dirty="0">
                <a:solidFill>
                  <a:srgbClr val="66534E"/>
                </a:solidFill>
                <a:latin typeface="Calibri"/>
                <a:cs typeface="Calibri"/>
              </a:rPr>
              <a:t>directional </a:t>
            </a:r>
            <a:r>
              <a:rPr sz="1450" spc="125" dirty="0">
                <a:solidFill>
                  <a:srgbClr val="66534E"/>
                </a:solidFill>
                <a:latin typeface="Calibri"/>
                <a:cs typeface="Calibri"/>
              </a:rPr>
              <a:t>relationships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25" dirty="0">
                <a:solidFill>
                  <a:srgbClr val="66534E"/>
                </a:solidFill>
                <a:latin typeface="Calibri"/>
                <a:cs typeface="Calibri"/>
              </a:rPr>
              <a:t>crucial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85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60" dirty="0">
                <a:solidFill>
                  <a:srgbClr val="66534E"/>
                </a:solidFill>
                <a:latin typeface="Calibri"/>
                <a:cs typeface="Calibri"/>
              </a:rPr>
              <a:t>knowledge </a:t>
            </a:r>
            <a:r>
              <a:rPr sz="1450" spc="125" dirty="0">
                <a:solidFill>
                  <a:srgbClr val="66534E"/>
                </a:solidFill>
                <a:latin typeface="Calibri"/>
                <a:cs typeface="Calibri"/>
              </a:rPr>
              <a:t>graphs.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86082" y="5172828"/>
            <a:ext cx="3648710" cy="157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100" spc="110" dirty="0">
                <a:solidFill>
                  <a:srgbClr val="66534E"/>
                </a:solidFill>
                <a:latin typeface="Calibri"/>
                <a:cs typeface="Calibri"/>
              </a:rPr>
              <a:t>Categorization</a:t>
            </a:r>
            <a:r>
              <a:rPr sz="2100" spc="1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100" spc="105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2100" spc="1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100" spc="110" dirty="0">
                <a:solidFill>
                  <a:srgbClr val="66534E"/>
                </a:solidFill>
                <a:latin typeface="Calibri"/>
                <a:cs typeface="Calibri"/>
              </a:rPr>
              <a:t>Coloring</a:t>
            </a:r>
            <a:endParaRPr sz="2100">
              <a:latin typeface="Calibri"/>
              <a:cs typeface="Calibri"/>
            </a:endParaRPr>
          </a:p>
          <a:p>
            <a:pPr marL="12700" marR="5080" algn="ctr">
              <a:lnSpc>
                <a:spcPct val="129299"/>
              </a:lnSpc>
              <a:spcBef>
                <a:spcPts val="695"/>
              </a:spcBef>
            </a:pPr>
            <a:r>
              <a:rPr sz="1450" spc="170" dirty="0">
                <a:solidFill>
                  <a:srgbClr val="66534E"/>
                </a:solidFill>
                <a:latin typeface="Calibri"/>
                <a:cs typeface="Calibri"/>
              </a:rPr>
              <a:t>Unique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5" dirty="0">
                <a:solidFill>
                  <a:srgbClr val="66534E"/>
                </a:solidFill>
                <a:latin typeface="Calibri"/>
                <a:cs typeface="Calibri"/>
              </a:rPr>
              <a:t>categories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50" dirty="0">
                <a:solidFill>
                  <a:srgbClr val="66534E"/>
                </a:solidFill>
                <a:latin typeface="Calibri"/>
                <a:cs typeface="Calibri"/>
              </a:rPr>
              <a:t>from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50" dirty="0">
                <a:solidFill>
                  <a:srgbClr val="66534E"/>
                </a:solidFill>
                <a:latin typeface="Calibri"/>
                <a:cs typeface="Calibri"/>
              </a:rPr>
              <a:t>the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65" dirty="0">
                <a:solidFill>
                  <a:srgbClr val="66534E"/>
                </a:solidFill>
                <a:latin typeface="Calibri"/>
                <a:cs typeface="Calibri"/>
              </a:rPr>
              <a:t>DataFrame </a:t>
            </a:r>
            <a:r>
              <a:rPr sz="1450" spc="114" dirty="0">
                <a:solidFill>
                  <a:srgbClr val="66534E"/>
                </a:solidFill>
                <a:latin typeface="Calibri"/>
                <a:cs typeface="Calibri"/>
              </a:rPr>
              <a:t>are</a:t>
            </a:r>
            <a:r>
              <a:rPr sz="14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65" dirty="0">
                <a:solidFill>
                  <a:srgbClr val="66534E"/>
                </a:solidFill>
                <a:latin typeface="Calibri"/>
                <a:cs typeface="Calibri"/>
              </a:rPr>
              <a:t>assigned</a:t>
            </a:r>
            <a:r>
              <a:rPr sz="14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0" dirty="0">
                <a:solidFill>
                  <a:srgbClr val="66534E"/>
                </a:solidFill>
                <a:latin typeface="Calibri"/>
                <a:cs typeface="Calibri"/>
              </a:rPr>
              <a:t>distinct</a:t>
            </a:r>
            <a:r>
              <a:rPr sz="14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20" dirty="0">
                <a:solidFill>
                  <a:srgbClr val="66534E"/>
                </a:solidFill>
                <a:latin typeface="Calibri"/>
                <a:cs typeface="Calibri"/>
              </a:rPr>
              <a:t>colors</a:t>
            </a:r>
            <a:r>
              <a:rPr sz="14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05" dirty="0">
                <a:solidFill>
                  <a:srgbClr val="66534E"/>
                </a:solidFill>
                <a:latin typeface="Calibri"/>
                <a:cs typeface="Calibri"/>
              </a:rPr>
              <a:t>to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95" dirty="0">
                <a:solidFill>
                  <a:srgbClr val="66534E"/>
                </a:solidFill>
                <a:latin typeface="Calibri"/>
                <a:cs typeface="Calibri"/>
              </a:rPr>
              <a:t>visually </a:t>
            </a:r>
            <a:r>
              <a:rPr sz="1450" spc="110" dirty="0">
                <a:solidFill>
                  <a:srgbClr val="66534E"/>
                </a:solidFill>
                <a:latin typeface="Calibri"/>
                <a:cs typeface="Calibri"/>
              </a:rPr>
              <a:t>identify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4" dirty="0">
                <a:solidFill>
                  <a:srgbClr val="66534E"/>
                </a:solidFill>
                <a:latin typeface="Calibri"/>
                <a:cs typeface="Calibri"/>
              </a:rPr>
              <a:t>related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65" dirty="0">
                <a:solidFill>
                  <a:srgbClr val="66534E"/>
                </a:solidFill>
                <a:latin typeface="Calibri"/>
                <a:cs typeface="Calibri"/>
              </a:rPr>
              <a:t>nodes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9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4" dirty="0">
                <a:solidFill>
                  <a:srgbClr val="66534E"/>
                </a:solidFill>
                <a:latin typeface="Calibri"/>
                <a:cs typeface="Calibri"/>
              </a:rPr>
              <a:t>simplify </a:t>
            </a:r>
            <a:r>
              <a:rPr sz="1450" spc="170" dirty="0">
                <a:solidFill>
                  <a:srgbClr val="66534E"/>
                </a:solidFill>
                <a:latin typeface="Calibri"/>
                <a:cs typeface="Calibri"/>
              </a:rPr>
              <a:t>complex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75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05" dirty="0">
                <a:solidFill>
                  <a:srgbClr val="66534E"/>
                </a:solidFill>
                <a:latin typeface="Calibri"/>
                <a:cs typeface="Calibri"/>
              </a:rPr>
              <a:t>structures.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43186" y="5073768"/>
            <a:ext cx="3754754" cy="2030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3540" marR="372110" algn="ctr">
              <a:lnSpc>
                <a:spcPct val="131000"/>
              </a:lnSpc>
              <a:spcBef>
                <a:spcPts val="95"/>
              </a:spcBef>
            </a:pPr>
            <a:r>
              <a:rPr sz="2100" spc="175" dirty="0">
                <a:solidFill>
                  <a:srgbClr val="66534E"/>
                </a:solidFill>
                <a:latin typeface="Calibri"/>
                <a:cs typeface="Calibri"/>
              </a:rPr>
              <a:t>Add</a:t>
            </a:r>
            <a:r>
              <a:rPr sz="2100" spc="1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100" spc="95" dirty="0">
                <a:solidFill>
                  <a:srgbClr val="66534E"/>
                </a:solidFill>
                <a:latin typeface="Calibri"/>
                <a:cs typeface="Calibri"/>
              </a:rPr>
              <a:t>Nodes</a:t>
            </a:r>
            <a:r>
              <a:rPr sz="2100" spc="1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100" spc="170" dirty="0">
                <a:solidFill>
                  <a:srgbClr val="66534E"/>
                </a:solidFill>
                <a:latin typeface="Calibri"/>
                <a:cs typeface="Calibri"/>
              </a:rPr>
              <a:t>&amp;</a:t>
            </a:r>
            <a:r>
              <a:rPr sz="2100" spc="1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100" spc="75" dirty="0">
                <a:solidFill>
                  <a:srgbClr val="66534E"/>
                </a:solidFill>
                <a:latin typeface="Calibri"/>
                <a:cs typeface="Calibri"/>
              </a:rPr>
              <a:t>Edges</a:t>
            </a:r>
            <a:r>
              <a:rPr sz="2100" spc="1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100" spc="45" dirty="0">
                <a:solidFill>
                  <a:srgbClr val="66534E"/>
                </a:solidFill>
                <a:latin typeface="Calibri"/>
                <a:cs typeface="Calibri"/>
              </a:rPr>
              <a:t>with </a:t>
            </a:r>
            <a:r>
              <a:rPr sz="2100" spc="65" dirty="0">
                <a:solidFill>
                  <a:srgbClr val="66534E"/>
                </a:solidFill>
                <a:latin typeface="Calibri"/>
                <a:cs typeface="Calibri"/>
              </a:rPr>
              <a:t>Attributes</a:t>
            </a:r>
            <a:endParaRPr sz="2100">
              <a:latin typeface="Calibri"/>
              <a:cs typeface="Calibri"/>
            </a:endParaRPr>
          </a:p>
          <a:p>
            <a:pPr marL="12065" marR="5080" algn="ctr">
              <a:lnSpc>
                <a:spcPct val="129299"/>
              </a:lnSpc>
              <a:spcBef>
                <a:spcPts val="185"/>
              </a:spcBef>
            </a:pPr>
            <a:r>
              <a:rPr sz="1450" spc="170" dirty="0">
                <a:solidFill>
                  <a:srgbClr val="66534E"/>
                </a:solidFill>
                <a:latin typeface="Calibri"/>
                <a:cs typeface="Calibri"/>
              </a:rPr>
              <a:t>Nodes</a:t>
            </a:r>
            <a:r>
              <a:rPr sz="14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85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75" dirty="0">
                <a:solidFill>
                  <a:srgbClr val="66534E"/>
                </a:solidFill>
                <a:latin typeface="Calibri"/>
                <a:cs typeface="Calibri"/>
              </a:rPr>
              <a:t>Entity1</a:t>
            </a:r>
            <a:r>
              <a:rPr sz="14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9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20" dirty="0">
                <a:solidFill>
                  <a:srgbClr val="66534E"/>
                </a:solidFill>
                <a:latin typeface="Calibri"/>
                <a:cs typeface="Calibri"/>
              </a:rPr>
              <a:t>Entity2</a:t>
            </a:r>
            <a:r>
              <a:rPr sz="14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4" dirty="0">
                <a:solidFill>
                  <a:srgbClr val="66534E"/>
                </a:solidFill>
                <a:latin typeface="Calibri"/>
                <a:cs typeface="Calibri"/>
              </a:rPr>
              <a:t>are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25" dirty="0">
                <a:solidFill>
                  <a:srgbClr val="66534E"/>
                </a:solidFill>
                <a:latin typeface="Calibri"/>
                <a:cs typeface="Calibri"/>
              </a:rPr>
              <a:t>created </a:t>
            </a:r>
            <a:r>
              <a:rPr sz="1450" spc="140" dirty="0">
                <a:solidFill>
                  <a:srgbClr val="66534E"/>
                </a:solidFill>
                <a:latin typeface="Calibri"/>
                <a:cs typeface="Calibri"/>
              </a:rPr>
              <a:t>with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5" dirty="0">
                <a:solidFill>
                  <a:srgbClr val="66534E"/>
                </a:solidFill>
                <a:latin typeface="Calibri"/>
                <a:cs typeface="Calibri"/>
              </a:rPr>
              <a:t>categories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9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95" dirty="0">
                <a:solidFill>
                  <a:srgbClr val="66534E"/>
                </a:solidFill>
                <a:latin typeface="Calibri"/>
                <a:cs typeface="Calibri"/>
              </a:rPr>
              <a:t>colors,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40" dirty="0">
                <a:solidFill>
                  <a:srgbClr val="66534E"/>
                </a:solidFill>
                <a:latin typeface="Calibri"/>
                <a:cs typeface="Calibri"/>
              </a:rPr>
              <a:t>then </a:t>
            </a:r>
            <a:r>
              <a:rPr sz="1450" spc="165" dirty="0">
                <a:solidFill>
                  <a:srgbClr val="66534E"/>
                </a:solidFill>
                <a:latin typeface="Calibri"/>
                <a:cs typeface="Calibri"/>
              </a:rPr>
              <a:t>connected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50" dirty="0">
                <a:solidFill>
                  <a:srgbClr val="66534E"/>
                </a:solidFill>
                <a:latin typeface="Calibri"/>
                <a:cs typeface="Calibri"/>
              </a:rPr>
              <a:t>by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50" dirty="0">
                <a:solidFill>
                  <a:srgbClr val="66534E"/>
                </a:solidFill>
                <a:latin typeface="Calibri"/>
                <a:cs typeface="Calibri"/>
              </a:rPr>
              <a:t>a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5" dirty="0">
                <a:solidFill>
                  <a:srgbClr val="66534E"/>
                </a:solidFill>
                <a:latin typeface="Calibri"/>
                <a:cs typeface="Calibri"/>
              </a:rPr>
              <a:t>directed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95" dirty="0">
                <a:solidFill>
                  <a:srgbClr val="66534E"/>
                </a:solidFill>
                <a:latin typeface="Calibri"/>
                <a:cs typeface="Calibri"/>
              </a:rPr>
              <a:t>edge</a:t>
            </a:r>
            <a:r>
              <a:rPr sz="14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20" dirty="0">
                <a:solidFill>
                  <a:srgbClr val="66534E"/>
                </a:solidFill>
                <a:latin typeface="Calibri"/>
                <a:cs typeface="Calibri"/>
              </a:rPr>
              <a:t>labeled </a:t>
            </a:r>
            <a:r>
              <a:rPr sz="1450" spc="140" dirty="0">
                <a:solidFill>
                  <a:srgbClr val="66534E"/>
                </a:solidFill>
                <a:latin typeface="Calibri"/>
                <a:cs typeface="Calibri"/>
              </a:rPr>
              <a:t>with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0" dirty="0">
                <a:solidFill>
                  <a:srgbClr val="66534E"/>
                </a:solidFill>
                <a:latin typeface="Calibri"/>
                <a:cs typeface="Calibri"/>
              </a:rPr>
              <a:t>their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'Relation'.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9406" y="7138709"/>
            <a:ext cx="1213358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100"/>
              </a:spcBef>
            </a:pPr>
            <a:r>
              <a:rPr sz="1450" spc="150" dirty="0">
                <a:solidFill>
                  <a:srgbClr val="66534E"/>
                </a:solidFill>
                <a:latin typeface="Calibri"/>
                <a:cs typeface="Calibri"/>
              </a:rPr>
              <a:t>The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10" dirty="0">
                <a:solidFill>
                  <a:srgbClr val="66534E"/>
                </a:solidFill>
                <a:latin typeface="Calibri"/>
                <a:cs typeface="Calibri"/>
              </a:rPr>
              <a:t>result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90" dirty="0">
                <a:solidFill>
                  <a:srgbClr val="66534E"/>
                </a:solidFill>
                <a:latin typeface="Calibri"/>
                <a:cs typeface="Calibri"/>
              </a:rPr>
              <a:t>is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50" dirty="0">
                <a:solidFill>
                  <a:srgbClr val="66534E"/>
                </a:solidFill>
                <a:latin typeface="Calibri"/>
                <a:cs typeface="Calibri"/>
              </a:rPr>
              <a:t>a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05" dirty="0">
                <a:solidFill>
                  <a:srgbClr val="66534E"/>
                </a:solidFill>
                <a:latin typeface="Calibri"/>
                <a:cs typeface="Calibri"/>
              </a:rPr>
              <a:t>visually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0" dirty="0">
                <a:solidFill>
                  <a:srgbClr val="66534E"/>
                </a:solidFill>
                <a:latin typeface="Calibri"/>
                <a:cs typeface="Calibri"/>
              </a:rPr>
              <a:t>organized,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05" dirty="0">
                <a:solidFill>
                  <a:srgbClr val="66534E"/>
                </a:solidFill>
                <a:latin typeface="Calibri"/>
                <a:cs typeface="Calibri"/>
              </a:rPr>
              <a:t>colored,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9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0" dirty="0">
                <a:solidFill>
                  <a:srgbClr val="66534E"/>
                </a:solidFill>
                <a:latin typeface="Calibri"/>
                <a:cs typeface="Calibri"/>
              </a:rPr>
              <a:t>labeled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70" dirty="0">
                <a:solidFill>
                  <a:srgbClr val="66534E"/>
                </a:solidFill>
                <a:latin typeface="Calibri"/>
                <a:cs typeface="Calibri"/>
              </a:rPr>
              <a:t>knowledge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5" dirty="0">
                <a:solidFill>
                  <a:srgbClr val="66534E"/>
                </a:solidFill>
                <a:latin typeface="Calibri"/>
                <a:cs typeface="Calibri"/>
              </a:rPr>
              <a:t>graph,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30" dirty="0">
                <a:solidFill>
                  <a:srgbClr val="66534E"/>
                </a:solidFill>
                <a:latin typeface="Calibri"/>
                <a:cs typeface="Calibri"/>
              </a:rPr>
              <a:t>ready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85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20" dirty="0">
                <a:solidFill>
                  <a:srgbClr val="66534E"/>
                </a:solidFill>
                <a:latin typeface="Calibri"/>
                <a:cs typeface="Calibri"/>
              </a:rPr>
              <a:t>in-</a:t>
            </a:r>
            <a:r>
              <a:rPr sz="1450" spc="170" dirty="0">
                <a:solidFill>
                  <a:srgbClr val="66534E"/>
                </a:solidFill>
                <a:latin typeface="Calibri"/>
                <a:cs typeface="Calibri"/>
              </a:rPr>
              <a:t>depth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45" dirty="0">
                <a:solidFill>
                  <a:srgbClr val="66534E"/>
                </a:solidFill>
                <a:latin typeface="Calibri"/>
                <a:cs typeface="Calibri"/>
              </a:rPr>
              <a:t>network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20" dirty="0">
                <a:solidFill>
                  <a:srgbClr val="66534E"/>
                </a:solidFill>
                <a:latin typeface="Calibri"/>
                <a:cs typeface="Calibri"/>
              </a:rPr>
              <a:t>analysis</a:t>
            </a:r>
            <a:r>
              <a:rPr sz="14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9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55" dirty="0">
                <a:solidFill>
                  <a:srgbClr val="66534E"/>
                </a:solidFill>
                <a:latin typeface="Calibri"/>
                <a:cs typeface="Calibri"/>
              </a:rPr>
              <a:t>uncovering</a:t>
            </a:r>
            <a:r>
              <a:rPr sz="14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450" spc="160" dirty="0">
                <a:solidFill>
                  <a:srgbClr val="66534E"/>
                </a:solidFill>
                <a:latin typeface="Calibri"/>
                <a:cs typeface="Calibri"/>
              </a:rPr>
              <a:t>hidden </a:t>
            </a:r>
            <a:r>
              <a:rPr sz="1450" spc="125" dirty="0">
                <a:solidFill>
                  <a:srgbClr val="66534E"/>
                </a:solidFill>
                <a:latin typeface="Calibri"/>
                <a:cs typeface="Calibri"/>
              </a:rPr>
              <a:t>connections.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2ADF86-2326-4E2C-AE99-A48A29FA3333}"/>
              </a:ext>
            </a:extLst>
          </p:cNvPr>
          <p:cNvSpPr txBox="1"/>
          <p:nvPr/>
        </p:nvSpPr>
        <p:spPr>
          <a:xfrm>
            <a:off x="12782986" y="7735609"/>
            <a:ext cx="1771214" cy="4939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Graph</a:t>
            </a:r>
            <a:r>
              <a:rPr spc="345" dirty="0"/>
              <a:t> </a:t>
            </a:r>
            <a:r>
              <a:rPr spc="120" dirty="0"/>
              <a:t>Analytics:</a:t>
            </a:r>
            <a:r>
              <a:rPr spc="350" dirty="0"/>
              <a:t> </a:t>
            </a:r>
            <a:r>
              <a:rPr spc="185" dirty="0"/>
              <a:t>Centrality</a:t>
            </a:r>
            <a:r>
              <a:rPr spc="350" dirty="0"/>
              <a:t> </a:t>
            </a:r>
            <a:r>
              <a:rPr spc="140" dirty="0"/>
              <a:t>Measures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932" y="1642745"/>
            <a:ext cx="78892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20" dirty="0">
                <a:solidFill>
                  <a:srgbClr val="66534E"/>
                </a:solidFill>
                <a:latin typeface="Calibri"/>
                <a:cs typeface="Calibri"/>
              </a:rPr>
              <a:t>Identify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5" dirty="0">
                <a:solidFill>
                  <a:srgbClr val="66534E"/>
                </a:solidFill>
                <a:latin typeface="Calibri"/>
                <a:cs typeface="Calibri"/>
              </a:rPr>
              <a:t>key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70" dirty="0">
                <a:solidFill>
                  <a:srgbClr val="66534E"/>
                </a:solidFill>
                <a:latin typeface="Calibri"/>
                <a:cs typeface="Calibri"/>
              </a:rPr>
              <a:t>nodes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65" dirty="0">
                <a:solidFill>
                  <a:srgbClr val="66534E"/>
                </a:solidFill>
                <a:latin typeface="Calibri"/>
                <a:cs typeface="Calibri"/>
              </a:rPr>
              <a:t>by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60" dirty="0">
                <a:solidFill>
                  <a:srgbClr val="66534E"/>
                </a:solidFill>
                <a:latin typeface="Calibri"/>
                <a:cs typeface="Calibri"/>
              </a:rPr>
              <a:t>analyzing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14" dirty="0">
                <a:solidFill>
                  <a:srgbClr val="66534E"/>
                </a:solidFill>
                <a:latin typeface="Calibri"/>
                <a:cs typeface="Calibri"/>
              </a:rPr>
              <a:t>their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50" dirty="0">
                <a:solidFill>
                  <a:srgbClr val="66534E"/>
                </a:solidFill>
                <a:latin typeface="Calibri"/>
                <a:cs typeface="Calibri"/>
              </a:rPr>
              <a:t>network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05" dirty="0">
                <a:solidFill>
                  <a:srgbClr val="66534E"/>
                </a:solidFill>
                <a:latin typeface="Calibri"/>
                <a:cs typeface="Calibri"/>
              </a:rPr>
              <a:t>roles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20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60" dirty="0">
                <a:solidFill>
                  <a:srgbClr val="66534E"/>
                </a:solidFill>
                <a:latin typeface="Calibri"/>
                <a:cs typeface="Calibri"/>
              </a:rPr>
              <a:t>inﬂuence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0" dirty="0">
                <a:solidFill>
                  <a:srgbClr val="66534E"/>
                </a:solidFill>
                <a:latin typeface="Calibri"/>
                <a:cs typeface="Calibri"/>
              </a:rPr>
              <a:t>within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55" dirty="0">
                <a:solidFill>
                  <a:srgbClr val="66534E"/>
                </a:solidFill>
                <a:latin typeface="Calibri"/>
                <a:cs typeface="Calibri"/>
              </a:rPr>
              <a:t>the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5" dirty="0">
                <a:solidFill>
                  <a:srgbClr val="66534E"/>
                </a:solidFill>
                <a:latin typeface="Calibri"/>
                <a:cs typeface="Calibri"/>
              </a:rPr>
              <a:t>graph.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5208" y="2129200"/>
            <a:ext cx="6553834" cy="611505"/>
            <a:chOff x="675208" y="2129200"/>
            <a:chExt cx="6553834" cy="611505"/>
          </a:xfrm>
        </p:grpSpPr>
        <p:sp>
          <p:nvSpPr>
            <p:cNvPr id="5" name="object 5"/>
            <p:cNvSpPr/>
            <p:nvPr/>
          </p:nvSpPr>
          <p:spPr>
            <a:xfrm>
              <a:off x="686633" y="2140625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4">
                  <a:moveTo>
                    <a:pt x="6236195" y="588525"/>
                  </a:moveTo>
                  <a:lnTo>
                    <a:pt x="294262" y="588525"/>
                  </a:lnTo>
                  <a:lnTo>
                    <a:pt x="246532" y="584674"/>
                  </a:lnTo>
                  <a:lnTo>
                    <a:pt x="201253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4"/>
                  </a:lnTo>
                  <a:lnTo>
                    <a:pt x="0" y="294263"/>
                  </a:lnTo>
                  <a:lnTo>
                    <a:pt x="3851" y="246532"/>
                  </a:lnTo>
                  <a:lnTo>
                    <a:pt x="15001" y="201253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3" y="15001"/>
                  </a:lnTo>
                  <a:lnTo>
                    <a:pt x="246532" y="3851"/>
                  </a:lnTo>
                  <a:lnTo>
                    <a:pt x="294262" y="0"/>
                  </a:lnTo>
                  <a:lnTo>
                    <a:pt x="6236195" y="0"/>
                  </a:lnTo>
                  <a:lnTo>
                    <a:pt x="6282506" y="3665"/>
                  </a:lnTo>
                  <a:lnTo>
                    <a:pt x="6327260" y="14444"/>
                  </a:lnTo>
                  <a:lnTo>
                    <a:pt x="6369665" y="32009"/>
                  </a:lnTo>
                  <a:lnTo>
                    <a:pt x="6408932" y="56033"/>
                  </a:lnTo>
                  <a:lnTo>
                    <a:pt x="6444271" y="86187"/>
                  </a:lnTo>
                  <a:lnTo>
                    <a:pt x="6474425" y="121526"/>
                  </a:lnTo>
                  <a:lnTo>
                    <a:pt x="6498449" y="160793"/>
                  </a:lnTo>
                  <a:lnTo>
                    <a:pt x="6516014" y="203198"/>
                  </a:lnTo>
                  <a:lnTo>
                    <a:pt x="6526793" y="247952"/>
                  </a:lnTo>
                  <a:lnTo>
                    <a:pt x="6530459" y="294263"/>
                  </a:lnTo>
                  <a:lnTo>
                    <a:pt x="6526607" y="341994"/>
                  </a:lnTo>
                  <a:lnTo>
                    <a:pt x="6515457" y="387272"/>
                  </a:lnTo>
                  <a:lnTo>
                    <a:pt x="6497614" y="429493"/>
                  </a:lnTo>
                  <a:lnTo>
                    <a:pt x="6473683" y="468050"/>
                  </a:lnTo>
                  <a:lnTo>
                    <a:pt x="6444271" y="502338"/>
                  </a:lnTo>
                  <a:lnTo>
                    <a:pt x="6409983" y="531750"/>
                  </a:lnTo>
                  <a:lnTo>
                    <a:pt x="6371426" y="555680"/>
                  </a:lnTo>
                  <a:lnTo>
                    <a:pt x="6329205" y="573524"/>
                  </a:lnTo>
                  <a:lnTo>
                    <a:pt x="6283926" y="584674"/>
                  </a:lnTo>
                  <a:lnTo>
                    <a:pt x="6236195" y="588525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6633" y="2140625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4">
                  <a:moveTo>
                    <a:pt x="0" y="294263"/>
                  </a:moveTo>
                  <a:lnTo>
                    <a:pt x="3851" y="246532"/>
                  </a:lnTo>
                  <a:lnTo>
                    <a:pt x="15001" y="201253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3" y="15001"/>
                  </a:lnTo>
                  <a:lnTo>
                    <a:pt x="246532" y="3851"/>
                  </a:lnTo>
                  <a:lnTo>
                    <a:pt x="294262" y="0"/>
                  </a:lnTo>
                  <a:lnTo>
                    <a:pt x="6236195" y="0"/>
                  </a:lnTo>
                  <a:lnTo>
                    <a:pt x="6282506" y="3665"/>
                  </a:lnTo>
                  <a:lnTo>
                    <a:pt x="6327260" y="14444"/>
                  </a:lnTo>
                  <a:lnTo>
                    <a:pt x="6369665" y="32009"/>
                  </a:lnTo>
                  <a:lnTo>
                    <a:pt x="6408932" y="56033"/>
                  </a:lnTo>
                  <a:lnTo>
                    <a:pt x="6444271" y="86187"/>
                  </a:lnTo>
                  <a:lnTo>
                    <a:pt x="6474425" y="121526"/>
                  </a:lnTo>
                  <a:lnTo>
                    <a:pt x="6498449" y="160793"/>
                  </a:lnTo>
                  <a:lnTo>
                    <a:pt x="6516014" y="203198"/>
                  </a:lnTo>
                  <a:lnTo>
                    <a:pt x="6526793" y="247952"/>
                  </a:lnTo>
                  <a:lnTo>
                    <a:pt x="6530459" y="294263"/>
                  </a:lnTo>
                  <a:lnTo>
                    <a:pt x="6526607" y="341994"/>
                  </a:lnTo>
                  <a:lnTo>
                    <a:pt x="6515457" y="387272"/>
                  </a:lnTo>
                  <a:lnTo>
                    <a:pt x="6497614" y="429493"/>
                  </a:lnTo>
                  <a:lnTo>
                    <a:pt x="6473683" y="468050"/>
                  </a:lnTo>
                  <a:lnTo>
                    <a:pt x="6444271" y="502338"/>
                  </a:lnTo>
                  <a:lnTo>
                    <a:pt x="6409983" y="531750"/>
                  </a:lnTo>
                  <a:lnTo>
                    <a:pt x="6371426" y="555680"/>
                  </a:lnTo>
                  <a:lnTo>
                    <a:pt x="6329205" y="573524"/>
                  </a:lnTo>
                  <a:lnTo>
                    <a:pt x="6283926" y="584674"/>
                  </a:lnTo>
                  <a:lnTo>
                    <a:pt x="6236195" y="588525"/>
                  </a:lnTo>
                  <a:lnTo>
                    <a:pt x="294262" y="588525"/>
                  </a:lnTo>
                  <a:lnTo>
                    <a:pt x="246532" y="584674"/>
                  </a:lnTo>
                  <a:lnTo>
                    <a:pt x="201253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4"/>
                  </a:lnTo>
                  <a:lnTo>
                    <a:pt x="0" y="294263"/>
                  </a:lnTo>
                  <a:close/>
                </a:path>
              </a:pathLst>
            </a:custGeom>
            <a:ln w="228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04760" y="2243614"/>
              <a:ext cx="294202" cy="38254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70028" y="2899847"/>
            <a:ext cx="257302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30" dirty="0">
                <a:solidFill>
                  <a:srgbClr val="66534E"/>
                </a:solidFill>
                <a:latin typeface="Calibri"/>
                <a:cs typeface="Calibri"/>
              </a:rPr>
              <a:t>Degree</a:t>
            </a:r>
            <a:r>
              <a:rPr sz="2200" spc="1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200" spc="85" dirty="0">
                <a:solidFill>
                  <a:srgbClr val="66534E"/>
                </a:solidFill>
                <a:latin typeface="Calibri"/>
                <a:cs typeface="Calibri"/>
              </a:rPr>
              <a:t>Centrality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500" spc="170" dirty="0">
                <a:solidFill>
                  <a:srgbClr val="66534E"/>
                </a:solidFill>
                <a:latin typeface="Calibri"/>
                <a:cs typeface="Calibri"/>
              </a:rPr>
              <a:t>Counts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direct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connections.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401762" y="2129200"/>
            <a:ext cx="6553834" cy="611505"/>
            <a:chOff x="7401762" y="2129200"/>
            <a:chExt cx="6553834" cy="611505"/>
          </a:xfrm>
        </p:grpSpPr>
        <p:sp>
          <p:nvSpPr>
            <p:cNvPr id="10" name="object 10"/>
            <p:cNvSpPr/>
            <p:nvPr/>
          </p:nvSpPr>
          <p:spPr>
            <a:xfrm>
              <a:off x="7413187" y="2140625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4">
                  <a:moveTo>
                    <a:pt x="6236314" y="588525"/>
                  </a:moveTo>
                  <a:lnTo>
                    <a:pt x="294262" y="588525"/>
                  </a:lnTo>
                  <a:lnTo>
                    <a:pt x="246531" y="584674"/>
                  </a:lnTo>
                  <a:lnTo>
                    <a:pt x="201252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4"/>
                  </a:lnTo>
                  <a:lnTo>
                    <a:pt x="0" y="294263"/>
                  </a:lnTo>
                  <a:lnTo>
                    <a:pt x="3851" y="246532"/>
                  </a:lnTo>
                  <a:lnTo>
                    <a:pt x="15001" y="201253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2" y="15001"/>
                  </a:lnTo>
                  <a:lnTo>
                    <a:pt x="246531" y="3851"/>
                  </a:lnTo>
                  <a:lnTo>
                    <a:pt x="294262" y="0"/>
                  </a:lnTo>
                  <a:lnTo>
                    <a:pt x="6236314" y="0"/>
                  </a:lnTo>
                  <a:lnTo>
                    <a:pt x="6282625" y="3665"/>
                  </a:lnTo>
                  <a:lnTo>
                    <a:pt x="6327379" y="14444"/>
                  </a:lnTo>
                  <a:lnTo>
                    <a:pt x="6369784" y="32009"/>
                  </a:lnTo>
                  <a:lnTo>
                    <a:pt x="6409051" y="56033"/>
                  </a:lnTo>
                  <a:lnTo>
                    <a:pt x="6444389" y="86187"/>
                  </a:lnTo>
                  <a:lnTo>
                    <a:pt x="6474544" y="121526"/>
                  </a:lnTo>
                  <a:lnTo>
                    <a:pt x="6498568" y="160793"/>
                  </a:lnTo>
                  <a:lnTo>
                    <a:pt x="6516132" y="203198"/>
                  </a:lnTo>
                  <a:lnTo>
                    <a:pt x="6526911" y="247952"/>
                  </a:lnTo>
                  <a:lnTo>
                    <a:pt x="6530577" y="294263"/>
                  </a:lnTo>
                  <a:lnTo>
                    <a:pt x="6526726" y="341994"/>
                  </a:lnTo>
                  <a:lnTo>
                    <a:pt x="6515575" y="387272"/>
                  </a:lnTo>
                  <a:lnTo>
                    <a:pt x="6497732" y="429493"/>
                  </a:lnTo>
                  <a:lnTo>
                    <a:pt x="6473801" y="468050"/>
                  </a:lnTo>
                  <a:lnTo>
                    <a:pt x="6444390" y="502338"/>
                  </a:lnTo>
                  <a:lnTo>
                    <a:pt x="6410102" y="531750"/>
                  </a:lnTo>
                  <a:lnTo>
                    <a:pt x="6371545" y="555680"/>
                  </a:lnTo>
                  <a:lnTo>
                    <a:pt x="6329324" y="573524"/>
                  </a:lnTo>
                  <a:lnTo>
                    <a:pt x="6284045" y="584674"/>
                  </a:lnTo>
                  <a:lnTo>
                    <a:pt x="6236314" y="588525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13187" y="2140625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4">
                  <a:moveTo>
                    <a:pt x="0" y="294263"/>
                  </a:moveTo>
                  <a:lnTo>
                    <a:pt x="3851" y="246532"/>
                  </a:lnTo>
                  <a:lnTo>
                    <a:pt x="15001" y="201253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2" y="15001"/>
                  </a:lnTo>
                  <a:lnTo>
                    <a:pt x="246531" y="3851"/>
                  </a:lnTo>
                  <a:lnTo>
                    <a:pt x="294262" y="0"/>
                  </a:lnTo>
                  <a:lnTo>
                    <a:pt x="6236314" y="0"/>
                  </a:lnTo>
                  <a:lnTo>
                    <a:pt x="6282625" y="3665"/>
                  </a:lnTo>
                  <a:lnTo>
                    <a:pt x="6327379" y="14444"/>
                  </a:lnTo>
                  <a:lnTo>
                    <a:pt x="6369784" y="32009"/>
                  </a:lnTo>
                  <a:lnTo>
                    <a:pt x="6409051" y="56033"/>
                  </a:lnTo>
                  <a:lnTo>
                    <a:pt x="6444389" y="86187"/>
                  </a:lnTo>
                  <a:lnTo>
                    <a:pt x="6474544" y="121526"/>
                  </a:lnTo>
                  <a:lnTo>
                    <a:pt x="6498568" y="160793"/>
                  </a:lnTo>
                  <a:lnTo>
                    <a:pt x="6516132" y="203198"/>
                  </a:lnTo>
                  <a:lnTo>
                    <a:pt x="6526911" y="247952"/>
                  </a:lnTo>
                  <a:lnTo>
                    <a:pt x="6530577" y="294263"/>
                  </a:lnTo>
                  <a:lnTo>
                    <a:pt x="6526726" y="341994"/>
                  </a:lnTo>
                  <a:lnTo>
                    <a:pt x="6515575" y="387272"/>
                  </a:lnTo>
                  <a:lnTo>
                    <a:pt x="6497732" y="429493"/>
                  </a:lnTo>
                  <a:lnTo>
                    <a:pt x="6473801" y="468050"/>
                  </a:lnTo>
                  <a:lnTo>
                    <a:pt x="6444390" y="502338"/>
                  </a:lnTo>
                  <a:lnTo>
                    <a:pt x="6410102" y="531750"/>
                  </a:lnTo>
                  <a:lnTo>
                    <a:pt x="6371545" y="555680"/>
                  </a:lnTo>
                  <a:lnTo>
                    <a:pt x="6329324" y="573524"/>
                  </a:lnTo>
                  <a:lnTo>
                    <a:pt x="6284045" y="584674"/>
                  </a:lnTo>
                  <a:lnTo>
                    <a:pt x="6236314" y="588525"/>
                  </a:lnTo>
                  <a:lnTo>
                    <a:pt x="294262" y="588525"/>
                  </a:lnTo>
                  <a:lnTo>
                    <a:pt x="246531" y="584674"/>
                  </a:lnTo>
                  <a:lnTo>
                    <a:pt x="201252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4"/>
                  </a:lnTo>
                  <a:lnTo>
                    <a:pt x="0" y="294263"/>
                  </a:lnTo>
                  <a:close/>
                </a:path>
              </a:pathLst>
            </a:custGeom>
            <a:ln w="228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31315" y="2243614"/>
              <a:ext cx="294202" cy="38254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596584" y="2899847"/>
            <a:ext cx="3780154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66534E"/>
                </a:solidFill>
                <a:latin typeface="Calibri"/>
                <a:cs typeface="Calibri"/>
              </a:rPr>
              <a:t>Betweenness</a:t>
            </a:r>
            <a:r>
              <a:rPr sz="2200" spc="80" dirty="0">
                <a:solidFill>
                  <a:srgbClr val="66534E"/>
                </a:solidFill>
                <a:latin typeface="Calibri"/>
                <a:cs typeface="Calibri"/>
              </a:rPr>
              <a:t>  </a:t>
            </a:r>
            <a:r>
              <a:rPr sz="2200" spc="85" dirty="0">
                <a:solidFill>
                  <a:srgbClr val="66534E"/>
                </a:solidFill>
                <a:latin typeface="Calibri"/>
                <a:cs typeface="Calibri"/>
              </a:rPr>
              <a:t>Centrality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500" spc="135" dirty="0">
                <a:solidFill>
                  <a:srgbClr val="66534E"/>
                </a:solidFill>
                <a:latin typeface="Calibri"/>
                <a:cs typeface="Calibri"/>
              </a:rPr>
              <a:t>Measures</a:t>
            </a:r>
            <a:r>
              <a:rPr sz="150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25" dirty="0">
                <a:solidFill>
                  <a:srgbClr val="66534E"/>
                </a:solidFill>
                <a:latin typeface="Calibri"/>
                <a:cs typeface="Calibri"/>
              </a:rPr>
              <a:t>control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10" dirty="0">
                <a:solidFill>
                  <a:srgbClr val="66534E"/>
                </a:solidFill>
                <a:latin typeface="Calibri"/>
                <a:cs typeface="Calibri"/>
              </a:rPr>
              <a:t>over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0" dirty="0">
                <a:solidFill>
                  <a:srgbClr val="66534E"/>
                </a:solidFill>
                <a:latin typeface="Calibri"/>
                <a:cs typeface="Calibri"/>
              </a:rPr>
              <a:t>information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ﬂow.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75208" y="4045272"/>
            <a:ext cx="6553834" cy="611505"/>
            <a:chOff x="675208" y="4045272"/>
            <a:chExt cx="6553834" cy="611505"/>
          </a:xfrm>
        </p:grpSpPr>
        <p:sp>
          <p:nvSpPr>
            <p:cNvPr id="15" name="object 15"/>
            <p:cNvSpPr/>
            <p:nvPr/>
          </p:nvSpPr>
          <p:spPr>
            <a:xfrm>
              <a:off x="686633" y="4056697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5">
                  <a:moveTo>
                    <a:pt x="6236195" y="588525"/>
                  </a:moveTo>
                  <a:lnTo>
                    <a:pt x="294262" y="588525"/>
                  </a:lnTo>
                  <a:lnTo>
                    <a:pt x="246532" y="584674"/>
                  </a:lnTo>
                  <a:lnTo>
                    <a:pt x="201253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3"/>
                  </a:lnTo>
                  <a:lnTo>
                    <a:pt x="0" y="294262"/>
                  </a:lnTo>
                  <a:lnTo>
                    <a:pt x="3851" y="246531"/>
                  </a:lnTo>
                  <a:lnTo>
                    <a:pt x="15001" y="201253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3" y="15001"/>
                  </a:lnTo>
                  <a:lnTo>
                    <a:pt x="246532" y="3851"/>
                  </a:lnTo>
                  <a:lnTo>
                    <a:pt x="294262" y="0"/>
                  </a:lnTo>
                  <a:lnTo>
                    <a:pt x="6236195" y="0"/>
                  </a:lnTo>
                  <a:lnTo>
                    <a:pt x="6282506" y="3665"/>
                  </a:lnTo>
                  <a:lnTo>
                    <a:pt x="6327260" y="14444"/>
                  </a:lnTo>
                  <a:lnTo>
                    <a:pt x="6369665" y="32009"/>
                  </a:lnTo>
                  <a:lnTo>
                    <a:pt x="6408932" y="56033"/>
                  </a:lnTo>
                  <a:lnTo>
                    <a:pt x="6444271" y="86187"/>
                  </a:lnTo>
                  <a:lnTo>
                    <a:pt x="6474425" y="121526"/>
                  </a:lnTo>
                  <a:lnTo>
                    <a:pt x="6498449" y="160793"/>
                  </a:lnTo>
                  <a:lnTo>
                    <a:pt x="6516014" y="203198"/>
                  </a:lnTo>
                  <a:lnTo>
                    <a:pt x="6526793" y="247952"/>
                  </a:lnTo>
                  <a:lnTo>
                    <a:pt x="6530459" y="294262"/>
                  </a:lnTo>
                  <a:lnTo>
                    <a:pt x="6526607" y="341993"/>
                  </a:lnTo>
                  <a:lnTo>
                    <a:pt x="6515457" y="387272"/>
                  </a:lnTo>
                  <a:lnTo>
                    <a:pt x="6497614" y="429493"/>
                  </a:lnTo>
                  <a:lnTo>
                    <a:pt x="6473683" y="468050"/>
                  </a:lnTo>
                  <a:lnTo>
                    <a:pt x="6444271" y="502338"/>
                  </a:lnTo>
                  <a:lnTo>
                    <a:pt x="6409983" y="531750"/>
                  </a:lnTo>
                  <a:lnTo>
                    <a:pt x="6371426" y="555680"/>
                  </a:lnTo>
                  <a:lnTo>
                    <a:pt x="6329205" y="573524"/>
                  </a:lnTo>
                  <a:lnTo>
                    <a:pt x="6283926" y="584674"/>
                  </a:lnTo>
                  <a:lnTo>
                    <a:pt x="6236195" y="588525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6633" y="4056697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5">
                  <a:moveTo>
                    <a:pt x="0" y="294262"/>
                  </a:moveTo>
                  <a:lnTo>
                    <a:pt x="3851" y="246531"/>
                  </a:lnTo>
                  <a:lnTo>
                    <a:pt x="15001" y="201253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3" y="15001"/>
                  </a:lnTo>
                  <a:lnTo>
                    <a:pt x="246532" y="3851"/>
                  </a:lnTo>
                  <a:lnTo>
                    <a:pt x="294262" y="0"/>
                  </a:lnTo>
                  <a:lnTo>
                    <a:pt x="6236195" y="0"/>
                  </a:lnTo>
                  <a:lnTo>
                    <a:pt x="6282506" y="3665"/>
                  </a:lnTo>
                  <a:lnTo>
                    <a:pt x="6327260" y="14444"/>
                  </a:lnTo>
                  <a:lnTo>
                    <a:pt x="6369665" y="32009"/>
                  </a:lnTo>
                  <a:lnTo>
                    <a:pt x="6408932" y="56033"/>
                  </a:lnTo>
                  <a:lnTo>
                    <a:pt x="6444271" y="86187"/>
                  </a:lnTo>
                  <a:lnTo>
                    <a:pt x="6474425" y="121526"/>
                  </a:lnTo>
                  <a:lnTo>
                    <a:pt x="6498449" y="160793"/>
                  </a:lnTo>
                  <a:lnTo>
                    <a:pt x="6516014" y="203198"/>
                  </a:lnTo>
                  <a:lnTo>
                    <a:pt x="6526793" y="247952"/>
                  </a:lnTo>
                  <a:lnTo>
                    <a:pt x="6530459" y="294262"/>
                  </a:lnTo>
                  <a:lnTo>
                    <a:pt x="6526607" y="341993"/>
                  </a:lnTo>
                  <a:lnTo>
                    <a:pt x="6515457" y="387272"/>
                  </a:lnTo>
                  <a:lnTo>
                    <a:pt x="6497614" y="429493"/>
                  </a:lnTo>
                  <a:lnTo>
                    <a:pt x="6473683" y="468050"/>
                  </a:lnTo>
                  <a:lnTo>
                    <a:pt x="6444271" y="502338"/>
                  </a:lnTo>
                  <a:lnTo>
                    <a:pt x="6409983" y="531750"/>
                  </a:lnTo>
                  <a:lnTo>
                    <a:pt x="6371426" y="555680"/>
                  </a:lnTo>
                  <a:lnTo>
                    <a:pt x="6329205" y="573524"/>
                  </a:lnTo>
                  <a:lnTo>
                    <a:pt x="6283926" y="584674"/>
                  </a:lnTo>
                  <a:lnTo>
                    <a:pt x="6236195" y="588525"/>
                  </a:lnTo>
                  <a:lnTo>
                    <a:pt x="294262" y="588525"/>
                  </a:lnTo>
                  <a:lnTo>
                    <a:pt x="246532" y="584674"/>
                  </a:lnTo>
                  <a:lnTo>
                    <a:pt x="201253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3"/>
                  </a:lnTo>
                  <a:lnTo>
                    <a:pt x="0" y="294262"/>
                  </a:lnTo>
                  <a:close/>
                </a:path>
              </a:pathLst>
            </a:custGeom>
            <a:ln w="228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4760" y="4159686"/>
              <a:ext cx="294202" cy="38254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70028" y="4815919"/>
            <a:ext cx="367030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50" dirty="0">
                <a:solidFill>
                  <a:srgbClr val="66534E"/>
                </a:solidFill>
                <a:latin typeface="Calibri"/>
                <a:cs typeface="Calibri"/>
              </a:rPr>
              <a:t>Closeness</a:t>
            </a:r>
            <a:r>
              <a:rPr sz="2200" spc="1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200" spc="85" dirty="0">
                <a:solidFill>
                  <a:srgbClr val="66534E"/>
                </a:solidFill>
                <a:latin typeface="Calibri"/>
                <a:cs typeface="Calibri"/>
              </a:rPr>
              <a:t>Centrality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500" spc="145" dirty="0">
                <a:solidFill>
                  <a:srgbClr val="66534E"/>
                </a:solidFill>
                <a:latin typeface="Calibri"/>
                <a:cs typeface="Calibri"/>
              </a:rPr>
              <a:t>Assesses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proximity</a:t>
            </a:r>
            <a:r>
              <a:rPr sz="150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20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20" dirty="0">
                <a:solidFill>
                  <a:srgbClr val="66534E"/>
                </a:solidFill>
                <a:latin typeface="Calibri"/>
                <a:cs typeface="Calibri"/>
              </a:rPr>
              <a:t>efﬁcient</a:t>
            </a:r>
            <a:r>
              <a:rPr sz="150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00" dirty="0">
                <a:solidFill>
                  <a:srgbClr val="66534E"/>
                </a:solidFill>
                <a:latin typeface="Calibri"/>
                <a:cs typeface="Calibri"/>
              </a:rPr>
              <a:t>reach.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01762" y="4045272"/>
            <a:ext cx="6553834" cy="611505"/>
            <a:chOff x="7401762" y="4045272"/>
            <a:chExt cx="6553834" cy="611505"/>
          </a:xfrm>
        </p:grpSpPr>
        <p:sp>
          <p:nvSpPr>
            <p:cNvPr id="20" name="object 20"/>
            <p:cNvSpPr/>
            <p:nvPr/>
          </p:nvSpPr>
          <p:spPr>
            <a:xfrm>
              <a:off x="7413187" y="4056697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5">
                  <a:moveTo>
                    <a:pt x="6236314" y="588525"/>
                  </a:moveTo>
                  <a:lnTo>
                    <a:pt x="294262" y="588525"/>
                  </a:lnTo>
                  <a:lnTo>
                    <a:pt x="246531" y="584674"/>
                  </a:lnTo>
                  <a:lnTo>
                    <a:pt x="201252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3"/>
                  </a:lnTo>
                  <a:lnTo>
                    <a:pt x="0" y="294262"/>
                  </a:lnTo>
                  <a:lnTo>
                    <a:pt x="3851" y="246531"/>
                  </a:lnTo>
                  <a:lnTo>
                    <a:pt x="15001" y="201253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2" y="15001"/>
                  </a:lnTo>
                  <a:lnTo>
                    <a:pt x="246531" y="3851"/>
                  </a:lnTo>
                  <a:lnTo>
                    <a:pt x="294262" y="0"/>
                  </a:lnTo>
                  <a:lnTo>
                    <a:pt x="6236314" y="0"/>
                  </a:lnTo>
                  <a:lnTo>
                    <a:pt x="6282625" y="3665"/>
                  </a:lnTo>
                  <a:lnTo>
                    <a:pt x="6327379" y="14444"/>
                  </a:lnTo>
                  <a:lnTo>
                    <a:pt x="6369784" y="32009"/>
                  </a:lnTo>
                  <a:lnTo>
                    <a:pt x="6409051" y="56033"/>
                  </a:lnTo>
                  <a:lnTo>
                    <a:pt x="6444389" y="86187"/>
                  </a:lnTo>
                  <a:lnTo>
                    <a:pt x="6474544" y="121526"/>
                  </a:lnTo>
                  <a:lnTo>
                    <a:pt x="6498568" y="160793"/>
                  </a:lnTo>
                  <a:lnTo>
                    <a:pt x="6516132" y="203198"/>
                  </a:lnTo>
                  <a:lnTo>
                    <a:pt x="6526911" y="247952"/>
                  </a:lnTo>
                  <a:lnTo>
                    <a:pt x="6530577" y="294262"/>
                  </a:lnTo>
                  <a:lnTo>
                    <a:pt x="6526726" y="341993"/>
                  </a:lnTo>
                  <a:lnTo>
                    <a:pt x="6515575" y="387272"/>
                  </a:lnTo>
                  <a:lnTo>
                    <a:pt x="6497732" y="429493"/>
                  </a:lnTo>
                  <a:lnTo>
                    <a:pt x="6473801" y="468050"/>
                  </a:lnTo>
                  <a:lnTo>
                    <a:pt x="6444390" y="502338"/>
                  </a:lnTo>
                  <a:lnTo>
                    <a:pt x="6410102" y="531750"/>
                  </a:lnTo>
                  <a:lnTo>
                    <a:pt x="6371545" y="555680"/>
                  </a:lnTo>
                  <a:lnTo>
                    <a:pt x="6329324" y="573524"/>
                  </a:lnTo>
                  <a:lnTo>
                    <a:pt x="6284045" y="584674"/>
                  </a:lnTo>
                  <a:lnTo>
                    <a:pt x="6236314" y="588525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13187" y="4056697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5">
                  <a:moveTo>
                    <a:pt x="0" y="294262"/>
                  </a:moveTo>
                  <a:lnTo>
                    <a:pt x="3851" y="246531"/>
                  </a:lnTo>
                  <a:lnTo>
                    <a:pt x="15001" y="201253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2" y="15001"/>
                  </a:lnTo>
                  <a:lnTo>
                    <a:pt x="246531" y="3851"/>
                  </a:lnTo>
                  <a:lnTo>
                    <a:pt x="294262" y="0"/>
                  </a:lnTo>
                  <a:lnTo>
                    <a:pt x="6236314" y="0"/>
                  </a:lnTo>
                  <a:lnTo>
                    <a:pt x="6282625" y="3665"/>
                  </a:lnTo>
                  <a:lnTo>
                    <a:pt x="6327379" y="14444"/>
                  </a:lnTo>
                  <a:lnTo>
                    <a:pt x="6369784" y="32009"/>
                  </a:lnTo>
                  <a:lnTo>
                    <a:pt x="6409051" y="56033"/>
                  </a:lnTo>
                  <a:lnTo>
                    <a:pt x="6444389" y="86187"/>
                  </a:lnTo>
                  <a:lnTo>
                    <a:pt x="6474544" y="121526"/>
                  </a:lnTo>
                  <a:lnTo>
                    <a:pt x="6498568" y="160793"/>
                  </a:lnTo>
                  <a:lnTo>
                    <a:pt x="6516132" y="203198"/>
                  </a:lnTo>
                  <a:lnTo>
                    <a:pt x="6526911" y="247952"/>
                  </a:lnTo>
                  <a:lnTo>
                    <a:pt x="6530577" y="294262"/>
                  </a:lnTo>
                  <a:lnTo>
                    <a:pt x="6526726" y="341993"/>
                  </a:lnTo>
                  <a:lnTo>
                    <a:pt x="6515575" y="387272"/>
                  </a:lnTo>
                  <a:lnTo>
                    <a:pt x="6497732" y="429493"/>
                  </a:lnTo>
                  <a:lnTo>
                    <a:pt x="6473801" y="468050"/>
                  </a:lnTo>
                  <a:lnTo>
                    <a:pt x="6444390" y="502338"/>
                  </a:lnTo>
                  <a:lnTo>
                    <a:pt x="6410102" y="531750"/>
                  </a:lnTo>
                  <a:lnTo>
                    <a:pt x="6371545" y="555680"/>
                  </a:lnTo>
                  <a:lnTo>
                    <a:pt x="6329324" y="573524"/>
                  </a:lnTo>
                  <a:lnTo>
                    <a:pt x="6284045" y="584674"/>
                  </a:lnTo>
                  <a:lnTo>
                    <a:pt x="6236314" y="588525"/>
                  </a:lnTo>
                  <a:lnTo>
                    <a:pt x="294262" y="588525"/>
                  </a:lnTo>
                  <a:lnTo>
                    <a:pt x="246531" y="584674"/>
                  </a:lnTo>
                  <a:lnTo>
                    <a:pt x="201252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3"/>
                  </a:lnTo>
                  <a:lnTo>
                    <a:pt x="0" y="294262"/>
                  </a:lnTo>
                  <a:close/>
                </a:path>
              </a:pathLst>
            </a:custGeom>
            <a:ln w="228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31315" y="4159686"/>
              <a:ext cx="294202" cy="38254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596584" y="4815919"/>
            <a:ext cx="4132579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130" dirty="0">
                <a:solidFill>
                  <a:srgbClr val="66534E"/>
                </a:solidFill>
                <a:latin typeface="Calibri"/>
                <a:cs typeface="Calibri"/>
              </a:rPr>
              <a:t>Community</a:t>
            </a:r>
            <a:r>
              <a:rPr sz="2200" spc="1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200" spc="100" dirty="0">
                <a:solidFill>
                  <a:srgbClr val="66534E"/>
                </a:solidFill>
                <a:latin typeface="Calibri"/>
                <a:cs typeface="Calibri"/>
              </a:rPr>
              <a:t>Detection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Identiﬁes</a:t>
            </a:r>
            <a:r>
              <a:rPr sz="150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5" dirty="0">
                <a:solidFill>
                  <a:srgbClr val="66534E"/>
                </a:solidFill>
                <a:latin typeface="Calibri"/>
                <a:cs typeface="Calibri"/>
              </a:rPr>
              <a:t>densely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70" dirty="0">
                <a:solidFill>
                  <a:srgbClr val="66534E"/>
                </a:solidFill>
                <a:latin typeface="Calibri"/>
                <a:cs typeface="Calibri"/>
              </a:rPr>
              <a:t>connected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80" dirty="0">
                <a:solidFill>
                  <a:srgbClr val="66534E"/>
                </a:solidFill>
                <a:latin typeface="Calibri"/>
                <a:cs typeface="Calibri"/>
              </a:rPr>
              <a:t>node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95" dirty="0">
                <a:solidFill>
                  <a:srgbClr val="66534E"/>
                </a:solidFill>
                <a:latin typeface="Calibri"/>
                <a:cs typeface="Calibri"/>
              </a:rPr>
              <a:t>clusters.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75208" y="5961345"/>
            <a:ext cx="6553834" cy="611505"/>
            <a:chOff x="675208" y="5961345"/>
            <a:chExt cx="6553834" cy="611505"/>
          </a:xfrm>
        </p:grpSpPr>
        <p:sp>
          <p:nvSpPr>
            <p:cNvPr id="25" name="object 25"/>
            <p:cNvSpPr/>
            <p:nvPr/>
          </p:nvSpPr>
          <p:spPr>
            <a:xfrm>
              <a:off x="686633" y="5972770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5">
                  <a:moveTo>
                    <a:pt x="6236195" y="588525"/>
                  </a:moveTo>
                  <a:lnTo>
                    <a:pt x="294262" y="588525"/>
                  </a:lnTo>
                  <a:lnTo>
                    <a:pt x="246532" y="584674"/>
                  </a:lnTo>
                  <a:lnTo>
                    <a:pt x="201253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3"/>
                  </a:lnTo>
                  <a:lnTo>
                    <a:pt x="0" y="294262"/>
                  </a:lnTo>
                  <a:lnTo>
                    <a:pt x="3851" y="246531"/>
                  </a:lnTo>
                  <a:lnTo>
                    <a:pt x="15001" y="201252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3" y="15001"/>
                  </a:lnTo>
                  <a:lnTo>
                    <a:pt x="246532" y="3851"/>
                  </a:lnTo>
                  <a:lnTo>
                    <a:pt x="294262" y="0"/>
                  </a:lnTo>
                  <a:lnTo>
                    <a:pt x="6236195" y="0"/>
                  </a:lnTo>
                  <a:lnTo>
                    <a:pt x="6282506" y="3665"/>
                  </a:lnTo>
                  <a:lnTo>
                    <a:pt x="6327260" y="14444"/>
                  </a:lnTo>
                  <a:lnTo>
                    <a:pt x="6369665" y="32009"/>
                  </a:lnTo>
                  <a:lnTo>
                    <a:pt x="6408932" y="56033"/>
                  </a:lnTo>
                  <a:lnTo>
                    <a:pt x="6444271" y="86187"/>
                  </a:lnTo>
                  <a:lnTo>
                    <a:pt x="6474425" y="121526"/>
                  </a:lnTo>
                  <a:lnTo>
                    <a:pt x="6498449" y="160793"/>
                  </a:lnTo>
                  <a:lnTo>
                    <a:pt x="6516014" y="203198"/>
                  </a:lnTo>
                  <a:lnTo>
                    <a:pt x="6526793" y="247952"/>
                  </a:lnTo>
                  <a:lnTo>
                    <a:pt x="6530459" y="294262"/>
                  </a:lnTo>
                  <a:lnTo>
                    <a:pt x="6526607" y="341993"/>
                  </a:lnTo>
                  <a:lnTo>
                    <a:pt x="6515457" y="387272"/>
                  </a:lnTo>
                  <a:lnTo>
                    <a:pt x="6497614" y="429493"/>
                  </a:lnTo>
                  <a:lnTo>
                    <a:pt x="6473683" y="468050"/>
                  </a:lnTo>
                  <a:lnTo>
                    <a:pt x="6444271" y="502338"/>
                  </a:lnTo>
                  <a:lnTo>
                    <a:pt x="6409983" y="531750"/>
                  </a:lnTo>
                  <a:lnTo>
                    <a:pt x="6371426" y="555680"/>
                  </a:lnTo>
                  <a:lnTo>
                    <a:pt x="6329205" y="573524"/>
                  </a:lnTo>
                  <a:lnTo>
                    <a:pt x="6283926" y="584674"/>
                  </a:lnTo>
                  <a:lnTo>
                    <a:pt x="6236195" y="588525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86633" y="5972770"/>
              <a:ext cx="6530975" cy="588645"/>
            </a:xfrm>
            <a:custGeom>
              <a:avLst/>
              <a:gdLst/>
              <a:ahLst/>
              <a:cxnLst/>
              <a:rect l="l" t="t" r="r" b="b"/>
              <a:pathLst>
                <a:path w="6530975" h="588645">
                  <a:moveTo>
                    <a:pt x="0" y="294262"/>
                  </a:moveTo>
                  <a:lnTo>
                    <a:pt x="3851" y="246531"/>
                  </a:lnTo>
                  <a:lnTo>
                    <a:pt x="15001" y="201252"/>
                  </a:lnTo>
                  <a:lnTo>
                    <a:pt x="32845" y="159032"/>
                  </a:lnTo>
                  <a:lnTo>
                    <a:pt x="56775" y="120475"/>
                  </a:lnTo>
                  <a:lnTo>
                    <a:pt x="86187" y="86187"/>
                  </a:lnTo>
                  <a:lnTo>
                    <a:pt x="120475" y="56775"/>
                  </a:lnTo>
                  <a:lnTo>
                    <a:pt x="159032" y="32845"/>
                  </a:lnTo>
                  <a:lnTo>
                    <a:pt x="201253" y="15001"/>
                  </a:lnTo>
                  <a:lnTo>
                    <a:pt x="246532" y="3851"/>
                  </a:lnTo>
                  <a:lnTo>
                    <a:pt x="294262" y="0"/>
                  </a:lnTo>
                  <a:lnTo>
                    <a:pt x="6236195" y="0"/>
                  </a:lnTo>
                  <a:lnTo>
                    <a:pt x="6282506" y="3665"/>
                  </a:lnTo>
                  <a:lnTo>
                    <a:pt x="6327260" y="14444"/>
                  </a:lnTo>
                  <a:lnTo>
                    <a:pt x="6369665" y="32009"/>
                  </a:lnTo>
                  <a:lnTo>
                    <a:pt x="6408932" y="56033"/>
                  </a:lnTo>
                  <a:lnTo>
                    <a:pt x="6444271" y="86187"/>
                  </a:lnTo>
                  <a:lnTo>
                    <a:pt x="6474425" y="121526"/>
                  </a:lnTo>
                  <a:lnTo>
                    <a:pt x="6498449" y="160793"/>
                  </a:lnTo>
                  <a:lnTo>
                    <a:pt x="6516014" y="203198"/>
                  </a:lnTo>
                  <a:lnTo>
                    <a:pt x="6526793" y="247952"/>
                  </a:lnTo>
                  <a:lnTo>
                    <a:pt x="6530459" y="294262"/>
                  </a:lnTo>
                  <a:lnTo>
                    <a:pt x="6526607" y="341993"/>
                  </a:lnTo>
                  <a:lnTo>
                    <a:pt x="6515457" y="387272"/>
                  </a:lnTo>
                  <a:lnTo>
                    <a:pt x="6497614" y="429493"/>
                  </a:lnTo>
                  <a:lnTo>
                    <a:pt x="6473683" y="468050"/>
                  </a:lnTo>
                  <a:lnTo>
                    <a:pt x="6444271" y="502338"/>
                  </a:lnTo>
                  <a:lnTo>
                    <a:pt x="6409983" y="531750"/>
                  </a:lnTo>
                  <a:lnTo>
                    <a:pt x="6371426" y="555680"/>
                  </a:lnTo>
                  <a:lnTo>
                    <a:pt x="6329205" y="573524"/>
                  </a:lnTo>
                  <a:lnTo>
                    <a:pt x="6283926" y="584674"/>
                  </a:lnTo>
                  <a:lnTo>
                    <a:pt x="6236195" y="588525"/>
                  </a:lnTo>
                  <a:lnTo>
                    <a:pt x="294262" y="588525"/>
                  </a:lnTo>
                  <a:lnTo>
                    <a:pt x="246532" y="584674"/>
                  </a:lnTo>
                  <a:lnTo>
                    <a:pt x="201253" y="573524"/>
                  </a:lnTo>
                  <a:lnTo>
                    <a:pt x="159032" y="555680"/>
                  </a:lnTo>
                  <a:lnTo>
                    <a:pt x="120475" y="531750"/>
                  </a:lnTo>
                  <a:lnTo>
                    <a:pt x="86187" y="502338"/>
                  </a:lnTo>
                  <a:lnTo>
                    <a:pt x="56775" y="468050"/>
                  </a:lnTo>
                  <a:lnTo>
                    <a:pt x="32845" y="429493"/>
                  </a:lnTo>
                  <a:lnTo>
                    <a:pt x="15001" y="387272"/>
                  </a:lnTo>
                  <a:lnTo>
                    <a:pt x="3851" y="341993"/>
                  </a:lnTo>
                  <a:lnTo>
                    <a:pt x="0" y="294262"/>
                  </a:lnTo>
                  <a:close/>
                </a:path>
              </a:pathLst>
            </a:custGeom>
            <a:ln w="22849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4760" y="6075759"/>
              <a:ext cx="294202" cy="38254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70028" y="6731992"/>
            <a:ext cx="431419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75" dirty="0">
                <a:solidFill>
                  <a:srgbClr val="66534E"/>
                </a:solidFill>
                <a:latin typeface="Calibri"/>
                <a:cs typeface="Calibri"/>
              </a:rPr>
              <a:t>Interactive</a:t>
            </a:r>
            <a:r>
              <a:rPr sz="2200" spc="204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200" spc="55" dirty="0">
                <a:solidFill>
                  <a:srgbClr val="66534E"/>
                </a:solidFill>
                <a:latin typeface="Calibri"/>
                <a:cs typeface="Calibri"/>
              </a:rPr>
              <a:t>Visualization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sz="1500" spc="135" dirty="0">
                <a:solidFill>
                  <a:srgbClr val="66534E"/>
                </a:solidFill>
                <a:latin typeface="Calibri"/>
                <a:cs typeface="Calibri"/>
              </a:rPr>
              <a:t>Creates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65" dirty="0">
                <a:solidFill>
                  <a:srgbClr val="66534E"/>
                </a:solidFill>
                <a:latin typeface="Calibri"/>
                <a:cs typeface="Calibri"/>
              </a:rPr>
              <a:t>dynamic,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14" dirty="0">
                <a:solidFill>
                  <a:srgbClr val="66534E"/>
                </a:solidFill>
                <a:latin typeface="Calibri"/>
                <a:cs typeface="Calibri"/>
              </a:rPr>
              <a:t>interactive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50" dirty="0">
                <a:solidFill>
                  <a:srgbClr val="66534E"/>
                </a:solidFill>
                <a:latin typeface="Calibri"/>
                <a:cs typeface="Calibri"/>
              </a:rPr>
              <a:t>network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graphs.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DB19F0-9938-2B57-098B-ACF075E9D9CE}"/>
              </a:ext>
            </a:extLst>
          </p:cNvPr>
          <p:cNvSpPr txBox="1"/>
          <p:nvPr/>
        </p:nvSpPr>
        <p:spPr>
          <a:xfrm>
            <a:off x="12649200" y="7620000"/>
            <a:ext cx="1905000" cy="5886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79" y="0"/>
            <a:ext cx="576071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91912" y="1024056"/>
            <a:ext cx="7641590" cy="71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50" spc="185" dirty="0"/>
              <a:t>Semantic</a:t>
            </a:r>
            <a:r>
              <a:rPr sz="4550" spc="340" dirty="0"/>
              <a:t> </a:t>
            </a:r>
            <a:r>
              <a:rPr sz="4550" spc="290" dirty="0"/>
              <a:t>QA:</a:t>
            </a:r>
            <a:r>
              <a:rPr sz="4550" spc="345" dirty="0"/>
              <a:t> </a:t>
            </a:r>
            <a:r>
              <a:rPr sz="4550" spc="320" dirty="0"/>
              <a:t>Core</a:t>
            </a:r>
            <a:r>
              <a:rPr sz="4550" spc="350" dirty="0"/>
              <a:t> </a:t>
            </a:r>
            <a:r>
              <a:rPr sz="4550" spc="135" dirty="0"/>
              <a:t>Functions</a:t>
            </a:r>
            <a:endParaRPr sz="4550"/>
          </a:p>
        </p:txBody>
      </p:sp>
      <p:sp>
        <p:nvSpPr>
          <p:cNvPr id="4" name="object 4"/>
          <p:cNvSpPr txBox="1"/>
          <p:nvPr/>
        </p:nvSpPr>
        <p:spPr>
          <a:xfrm>
            <a:off x="691912" y="2019419"/>
            <a:ext cx="703262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00"/>
              </a:spcBef>
            </a:pPr>
            <a:r>
              <a:rPr sz="1550" spc="185" dirty="0">
                <a:solidFill>
                  <a:srgbClr val="66534E"/>
                </a:solidFill>
                <a:latin typeface="Calibri"/>
                <a:cs typeface="Calibri"/>
              </a:rPr>
              <a:t>Our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90" dirty="0">
                <a:solidFill>
                  <a:srgbClr val="66534E"/>
                </a:solidFill>
                <a:latin typeface="Calibri"/>
                <a:cs typeface="Calibri"/>
              </a:rPr>
              <a:t>Semantic</a:t>
            </a:r>
            <a:r>
              <a:rPr sz="15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220" dirty="0">
                <a:solidFill>
                  <a:srgbClr val="66534E"/>
                </a:solidFill>
                <a:latin typeface="Calibri"/>
                <a:cs typeface="Calibri"/>
              </a:rPr>
              <a:t>QA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70" dirty="0">
                <a:solidFill>
                  <a:srgbClr val="66534E"/>
                </a:solidFill>
                <a:latin typeface="Calibri"/>
                <a:cs typeface="Calibri"/>
              </a:rPr>
              <a:t>system</a:t>
            </a:r>
            <a:r>
              <a:rPr sz="15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20" dirty="0">
                <a:solidFill>
                  <a:srgbClr val="66534E"/>
                </a:solidFill>
                <a:latin typeface="Calibri"/>
                <a:cs typeface="Calibri"/>
              </a:rPr>
              <a:t>efﬁciently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05" dirty="0">
                <a:solidFill>
                  <a:srgbClr val="66534E"/>
                </a:solidFill>
                <a:latin typeface="Calibri"/>
                <a:cs typeface="Calibri"/>
              </a:rPr>
              <a:t>retrieves</a:t>
            </a:r>
            <a:r>
              <a:rPr sz="15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21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5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30" dirty="0">
                <a:solidFill>
                  <a:srgbClr val="66534E"/>
                </a:solidFill>
                <a:latin typeface="Calibri"/>
                <a:cs typeface="Calibri"/>
              </a:rPr>
              <a:t>visualizes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35" dirty="0">
                <a:solidFill>
                  <a:srgbClr val="66534E"/>
                </a:solidFill>
                <a:latin typeface="Calibri"/>
                <a:cs typeface="Calibri"/>
              </a:rPr>
              <a:t>information </a:t>
            </a:r>
            <a:r>
              <a:rPr sz="1550" spc="185" dirty="0">
                <a:solidFill>
                  <a:srgbClr val="66534E"/>
                </a:solidFill>
                <a:latin typeface="Calibri"/>
                <a:cs typeface="Calibri"/>
              </a:rPr>
              <a:t>through</a:t>
            </a:r>
            <a:r>
              <a:rPr sz="15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55" dirty="0">
                <a:solidFill>
                  <a:srgbClr val="66534E"/>
                </a:solidFill>
                <a:latin typeface="Calibri"/>
                <a:cs typeface="Calibri"/>
              </a:rPr>
              <a:t>key</a:t>
            </a:r>
            <a:r>
              <a:rPr sz="15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35" dirty="0">
                <a:solidFill>
                  <a:srgbClr val="66534E"/>
                </a:solidFill>
                <a:latin typeface="Calibri"/>
                <a:cs typeface="Calibri"/>
              </a:rPr>
              <a:t>operational</a:t>
            </a:r>
            <a:r>
              <a:rPr sz="15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20" dirty="0">
                <a:solidFill>
                  <a:srgbClr val="66534E"/>
                </a:solidFill>
                <a:latin typeface="Calibri"/>
                <a:cs typeface="Calibri"/>
              </a:rPr>
              <a:t>functions.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4611" y="2866430"/>
            <a:ext cx="3766820" cy="2312035"/>
            <a:chOff x="704611" y="2866430"/>
            <a:chExt cx="3766820" cy="2312035"/>
          </a:xfrm>
        </p:grpSpPr>
        <p:sp>
          <p:nvSpPr>
            <p:cNvPr id="6" name="object 6"/>
            <p:cNvSpPr/>
            <p:nvPr/>
          </p:nvSpPr>
          <p:spPr>
            <a:xfrm>
              <a:off x="704611" y="3168372"/>
              <a:ext cx="3766820" cy="2009775"/>
            </a:xfrm>
            <a:custGeom>
              <a:avLst/>
              <a:gdLst/>
              <a:ahLst/>
              <a:cxnLst/>
              <a:rect l="l" t="t" r="r" b="b"/>
              <a:pathLst>
                <a:path w="3766820" h="2009775">
                  <a:moveTo>
                    <a:pt x="3656940" y="2009536"/>
                  </a:moveTo>
                  <a:lnTo>
                    <a:pt x="109720" y="2009536"/>
                  </a:lnTo>
                  <a:lnTo>
                    <a:pt x="67012" y="2000914"/>
                  </a:lnTo>
                  <a:lnTo>
                    <a:pt x="32136" y="1977400"/>
                  </a:lnTo>
                  <a:lnTo>
                    <a:pt x="8622" y="1942524"/>
                  </a:lnTo>
                  <a:lnTo>
                    <a:pt x="0" y="1899816"/>
                  </a:lnTo>
                  <a:lnTo>
                    <a:pt x="0" y="109720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0" y="0"/>
                  </a:lnTo>
                  <a:lnTo>
                    <a:pt x="3656940" y="0"/>
                  </a:lnTo>
                  <a:lnTo>
                    <a:pt x="3698928" y="8351"/>
                  </a:lnTo>
                  <a:lnTo>
                    <a:pt x="3734524" y="32136"/>
                  </a:lnTo>
                  <a:lnTo>
                    <a:pt x="3758309" y="67732"/>
                  </a:lnTo>
                  <a:lnTo>
                    <a:pt x="3766660" y="109720"/>
                  </a:lnTo>
                  <a:lnTo>
                    <a:pt x="3766660" y="1899816"/>
                  </a:lnTo>
                  <a:lnTo>
                    <a:pt x="3758038" y="1942524"/>
                  </a:lnTo>
                  <a:lnTo>
                    <a:pt x="3734524" y="1977400"/>
                  </a:lnTo>
                  <a:lnTo>
                    <a:pt x="3699648" y="2000914"/>
                  </a:lnTo>
                  <a:lnTo>
                    <a:pt x="3656940" y="2009536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04608" y="2866440"/>
              <a:ext cx="3766820" cy="604520"/>
            </a:xfrm>
            <a:custGeom>
              <a:avLst/>
              <a:gdLst/>
              <a:ahLst/>
              <a:cxnLst/>
              <a:rect l="l" t="t" r="r" b="b"/>
              <a:pathLst>
                <a:path w="3766820" h="604520">
                  <a:moveTo>
                    <a:pt x="3766655" y="324802"/>
                  </a:moveTo>
                  <a:lnTo>
                    <a:pt x="3746309" y="286753"/>
                  </a:lnTo>
                  <a:lnTo>
                    <a:pt x="3720935" y="279082"/>
                  </a:lnTo>
                  <a:lnTo>
                    <a:pt x="2183511" y="279082"/>
                  </a:lnTo>
                  <a:lnTo>
                    <a:pt x="2181568" y="254469"/>
                  </a:lnTo>
                  <a:lnTo>
                    <a:pt x="2170506" y="208534"/>
                  </a:lnTo>
                  <a:lnTo>
                    <a:pt x="2152472" y="165023"/>
                  </a:lnTo>
                  <a:lnTo>
                    <a:pt x="2127821" y="124714"/>
                  </a:lnTo>
                  <a:lnTo>
                    <a:pt x="2096871" y="88455"/>
                  </a:lnTo>
                  <a:lnTo>
                    <a:pt x="2060600" y="57505"/>
                  </a:lnTo>
                  <a:lnTo>
                    <a:pt x="2020303" y="32842"/>
                  </a:lnTo>
                  <a:lnTo>
                    <a:pt x="1976780" y="14820"/>
                  </a:lnTo>
                  <a:lnTo>
                    <a:pt x="1930857" y="3759"/>
                  </a:lnTo>
                  <a:lnTo>
                    <a:pt x="1883321" y="0"/>
                  </a:lnTo>
                  <a:lnTo>
                    <a:pt x="1834337" y="3949"/>
                  </a:lnTo>
                  <a:lnTo>
                    <a:pt x="1787867" y="15392"/>
                  </a:lnTo>
                  <a:lnTo>
                    <a:pt x="1744535" y="33705"/>
                  </a:lnTo>
                  <a:lnTo>
                    <a:pt x="1704962" y="58267"/>
                  </a:lnTo>
                  <a:lnTo>
                    <a:pt x="1669783" y="88455"/>
                  </a:lnTo>
                  <a:lnTo>
                    <a:pt x="1639595" y="123634"/>
                  </a:lnTo>
                  <a:lnTo>
                    <a:pt x="1615033" y="163207"/>
                  </a:lnTo>
                  <a:lnTo>
                    <a:pt x="1596720" y="206540"/>
                  </a:lnTo>
                  <a:lnTo>
                    <a:pt x="1585277" y="253009"/>
                  </a:lnTo>
                  <a:lnTo>
                    <a:pt x="1583169" y="279082"/>
                  </a:lnTo>
                  <a:lnTo>
                    <a:pt x="45720" y="279082"/>
                  </a:lnTo>
                  <a:lnTo>
                    <a:pt x="27914" y="282676"/>
                  </a:lnTo>
                  <a:lnTo>
                    <a:pt x="13385" y="292468"/>
                  </a:lnTo>
                  <a:lnTo>
                    <a:pt x="3594" y="306997"/>
                  </a:lnTo>
                  <a:lnTo>
                    <a:pt x="0" y="324802"/>
                  </a:lnTo>
                  <a:lnTo>
                    <a:pt x="3594" y="342595"/>
                  </a:lnTo>
                  <a:lnTo>
                    <a:pt x="13385" y="357124"/>
                  </a:lnTo>
                  <a:lnTo>
                    <a:pt x="27914" y="366928"/>
                  </a:lnTo>
                  <a:lnTo>
                    <a:pt x="45720" y="370522"/>
                  </a:lnTo>
                  <a:lnTo>
                    <a:pt x="1590078" y="370522"/>
                  </a:lnTo>
                  <a:lnTo>
                    <a:pt x="1596720" y="397459"/>
                  </a:lnTo>
                  <a:lnTo>
                    <a:pt x="1615033" y="440778"/>
                  </a:lnTo>
                  <a:lnTo>
                    <a:pt x="1639595" y="480352"/>
                  </a:lnTo>
                  <a:lnTo>
                    <a:pt x="1669783" y="515543"/>
                  </a:lnTo>
                  <a:lnTo>
                    <a:pt x="1704962" y="545731"/>
                  </a:lnTo>
                  <a:lnTo>
                    <a:pt x="1744535" y="570293"/>
                  </a:lnTo>
                  <a:lnTo>
                    <a:pt x="1787867" y="588606"/>
                  </a:lnTo>
                  <a:lnTo>
                    <a:pt x="1834337" y="600049"/>
                  </a:lnTo>
                  <a:lnTo>
                    <a:pt x="1883321" y="603999"/>
                  </a:lnTo>
                  <a:lnTo>
                    <a:pt x="1932317" y="600049"/>
                  </a:lnTo>
                  <a:lnTo>
                    <a:pt x="1978787" y="588606"/>
                  </a:lnTo>
                  <a:lnTo>
                    <a:pt x="2022119" y="570293"/>
                  </a:lnTo>
                  <a:lnTo>
                    <a:pt x="2061679" y="545731"/>
                  </a:lnTo>
                  <a:lnTo>
                    <a:pt x="2096871" y="515543"/>
                  </a:lnTo>
                  <a:lnTo>
                    <a:pt x="2127059" y="480352"/>
                  </a:lnTo>
                  <a:lnTo>
                    <a:pt x="2151621" y="440778"/>
                  </a:lnTo>
                  <a:lnTo>
                    <a:pt x="2169934" y="397459"/>
                  </a:lnTo>
                  <a:lnTo>
                    <a:pt x="2176564" y="370522"/>
                  </a:lnTo>
                  <a:lnTo>
                    <a:pt x="3720935" y="370522"/>
                  </a:lnTo>
                  <a:lnTo>
                    <a:pt x="3738740" y="366928"/>
                  </a:lnTo>
                  <a:lnTo>
                    <a:pt x="3753269" y="357124"/>
                  </a:lnTo>
                  <a:lnTo>
                    <a:pt x="3763060" y="342595"/>
                  </a:lnTo>
                  <a:lnTo>
                    <a:pt x="3766655" y="324802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7153" y="3011329"/>
              <a:ext cx="241578" cy="31408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16107" y="3649423"/>
            <a:ext cx="3141345" cy="139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70" dirty="0">
                <a:solidFill>
                  <a:srgbClr val="66534E"/>
                </a:solidFill>
                <a:latin typeface="Calibri"/>
                <a:cs typeface="Calibri"/>
              </a:rPr>
              <a:t>load_model()</a:t>
            </a:r>
            <a:endParaRPr sz="2250">
              <a:latin typeface="Calibri"/>
              <a:cs typeface="Calibri"/>
            </a:endParaRPr>
          </a:p>
          <a:p>
            <a:pPr marL="12700" marR="5080">
              <a:lnSpc>
                <a:spcPct val="133100"/>
              </a:lnSpc>
              <a:spcBef>
                <a:spcPts val="620"/>
              </a:spcBef>
            </a:pPr>
            <a:r>
              <a:rPr sz="1550" spc="190" dirty="0">
                <a:solidFill>
                  <a:srgbClr val="66534E"/>
                </a:solidFill>
                <a:latin typeface="Calibri"/>
                <a:cs typeface="Calibri"/>
              </a:rPr>
              <a:t>Loads</a:t>
            </a:r>
            <a:r>
              <a:rPr sz="15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75" dirty="0">
                <a:solidFill>
                  <a:srgbClr val="66534E"/>
                </a:solidFill>
                <a:latin typeface="Calibri"/>
                <a:cs typeface="Calibri"/>
              </a:rPr>
              <a:t>a</a:t>
            </a:r>
            <a:r>
              <a:rPr sz="15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55" dirty="0">
                <a:solidFill>
                  <a:srgbClr val="66534E"/>
                </a:solidFill>
                <a:latin typeface="Calibri"/>
                <a:cs typeface="Calibri"/>
              </a:rPr>
              <a:t>lightweight </a:t>
            </a:r>
            <a:r>
              <a:rPr sz="1550" spc="145" dirty="0">
                <a:solidFill>
                  <a:srgbClr val="66534E"/>
                </a:solidFill>
                <a:latin typeface="Calibri"/>
                <a:cs typeface="Calibri"/>
              </a:rPr>
              <a:t>SentenceTransformer</a:t>
            </a:r>
            <a:r>
              <a:rPr sz="15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95" dirty="0">
                <a:solidFill>
                  <a:srgbClr val="66534E"/>
                </a:solidFill>
                <a:latin typeface="Calibri"/>
                <a:cs typeface="Calibri"/>
              </a:rPr>
              <a:t>model</a:t>
            </a:r>
            <a:r>
              <a:rPr sz="15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60" dirty="0">
                <a:solidFill>
                  <a:srgbClr val="66534E"/>
                </a:solidFill>
                <a:latin typeface="Calibri"/>
                <a:cs typeface="Calibri"/>
              </a:rPr>
              <a:t>for </a:t>
            </a:r>
            <a:r>
              <a:rPr sz="1550" spc="130" dirty="0">
                <a:solidFill>
                  <a:srgbClr val="66534E"/>
                </a:solidFill>
                <a:latin typeface="Calibri"/>
                <a:cs typeface="Calibri"/>
              </a:rPr>
              <a:t>efﬁcient</a:t>
            </a:r>
            <a:r>
              <a:rPr sz="15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10" dirty="0">
                <a:solidFill>
                  <a:srgbClr val="66534E"/>
                </a:solidFill>
                <a:latin typeface="Calibri"/>
                <a:cs typeface="Calibri"/>
              </a:rPr>
              <a:t>text</a:t>
            </a:r>
            <a:r>
              <a:rPr sz="15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80" dirty="0">
                <a:solidFill>
                  <a:srgbClr val="66534E"/>
                </a:solidFill>
                <a:latin typeface="Calibri"/>
                <a:cs typeface="Calibri"/>
              </a:rPr>
              <a:t>embeddings.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72607" y="2866430"/>
            <a:ext cx="3766820" cy="2312035"/>
            <a:chOff x="4672607" y="2866430"/>
            <a:chExt cx="3766820" cy="2312035"/>
          </a:xfrm>
        </p:grpSpPr>
        <p:sp>
          <p:nvSpPr>
            <p:cNvPr id="11" name="object 11"/>
            <p:cNvSpPr/>
            <p:nvPr/>
          </p:nvSpPr>
          <p:spPr>
            <a:xfrm>
              <a:off x="4672607" y="3168372"/>
              <a:ext cx="3766820" cy="2009775"/>
            </a:xfrm>
            <a:custGeom>
              <a:avLst/>
              <a:gdLst/>
              <a:ahLst/>
              <a:cxnLst/>
              <a:rect l="l" t="t" r="r" b="b"/>
              <a:pathLst>
                <a:path w="3766820" h="2009775">
                  <a:moveTo>
                    <a:pt x="3657059" y="2009536"/>
                  </a:moveTo>
                  <a:lnTo>
                    <a:pt x="109721" y="2009536"/>
                  </a:lnTo>
                  <a:lnTo>
                    <a:pt x="67012" y="2000914"/>
                  </a:lnTo>
                  <a:lnTo>
                    <a:pt x="32136" y="1977400"/>
                  </a:lnTo>
                  <a:lnTo>
                    <a:pt x="8622" y="1942524"/>
                  </a:lnTo>
                  <a:lnTo>
                    <a:pt x="0" y="1899816"/>
                  </a:lnTo>
                  <a:lnTo>
                    <a:pt x="0" y="109720"/>
                  </a:lnTo>
                  <a:lnTo>
                    <a:pt x="8622" y="67012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1" y="0"/>
                  </a:lnTo>
                  <a:lnTo>
                    <a:pt x="3657059" y="0"/>
                  </a:lnTo>
                  <a:lnTo>
                    <a:pt x="3699047" y="8351"/>
                  </a:lnTo>
                  <a:lnTo>
                    <a:pt x="3734643" y="32136"/>
                  </a:lnTo>
                  <a:lnTo>
                    <a:pt x="3758428" y="67732"/>
                  </a:lnTo>
                  <a:lnTo>
                    <a:pt x="3766780" y="109720"/>
                  </a:lnTo>
                  <a:lnTo>
                    <a:pt x="3766780" y="1899816"/>
                  </a:lnTo>
                  <a:lnTo>
                    <a:pt x="3758157" y="1942524"/>
                  </a:lnTo>
                  <a:lnTo>
                    <a:pt x="3734643" y="1977400"/>
                  </a:lnTo>
                  <a:lnTo>
                    <a:pt x="3699767" y="2000914"/>
                  </a:lnTo>
                  <a:lnTo>
                    <a:pt x="3657059" y="2009536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72597" y="2866440"/>
              <a:ext cx="3766820" cy="604520"/>
            </a:xfrm>
            <a:custGeom>
              <a:avLst/>
              <a:gdLst/>
              <a:ahLst/>
              <a:cxnLst/>
              <a:rect l="l" t="t" r="r" b="b"/>
              <a:pathLst>
                <a:path w="3766820" h="604520">
                  <a:moveTo>
                    <a:pt x="3766782" y="324802"/>
                  </a:moveTo>
                  <a:lnTo>
                    <a:pt x="3746436" y="286753"/>
                  </a:lnTo>
                  <a:lnTo>
                    <a:pt x="3721062" y="279082"/>
                  </a:lnTo>
                  <a:lnTo>
                    <a:pt x="2183523" y="279082"/>
                  </a:lnTo>
                  <a:lnTo>
                    <a:pt x="2181580" y="254469"/>
                  </a:lnTo>
                  <a:lnTo>
                    <a:pt x="2170506" y="208534"/>
                  </a:lnTo>
                  <a:lnTo>
                    <a:pt x="2152485" y="165023"/>
                  </a:lnTo>
                  <a:lnTo>
                    <a:pt x="2127834" y="124714"/>
                  </a:lnTo>
                  <a:lnTo>
                    <a:pt x="2096884" y="88455"/>
                  </a:lnTo>
                  <a:lnTo>
                    <a:pt x="2060613" y="57505"/>
                  </a:lnTo>
                  <a:lnTo>
                    <a:pt x="2020316" y="32842"/>
                  </a:lnTo>
                  <a:lnTo>
                    <a:pt x="1976793" y="14820"/>
                  </a:lnTo>
                  <a:lnTo>
                    <a:pt x="1930869" y="3759"/>
                  </a:lnTo>
                  <a:lnTo>
                    <a:pt x="1883333" y="0"/>
                  </a:lnTo>
                  <a:lnTo>
                    <a:pt x="1834349" y="3949"/>
                  </a:lnTo>
                  <a:lnTo>
                    <a:pt x="1787880" y="15392"/>
                  </a:lnTo>
                  <a:lnTo>
                    <a:pt x="1744548" y="33705"/>
                  </a:lnTo>
                  <a:lnTo>
                    <a:pt x="1704975" y="58267"/>
                  </a:lnTo>
                  <a:lnTo>
                    <a:pt x="1669783" y="88455"/>
                  </a:lnTo>
                  <a:lnTo>
                    <a:pt x="1639608" y="123634"/>
                  </a:lnTo>
                  <a:lnTo>
                    <a:pt x="1615046" y="163207"/>
                  </a:lnTo>
                  <a:lnTo>
                    <a:pt x="1596732" y="206540"/>
                  </a:lnTo>
                  <a:lnTo>
                    <a:pt x="1585290" y="253009"/>
                  </a:lnTo>
                  <a:lnTo>
                    <a:pt x="1583169" y="279082"/>
                  </a:lnTo>
                  <a:lnTo>
                    <a:pt x="45720" y="279082"/>
                  </a:lnTo>
                  <a:lnTo>
                    <a:pt x="27927" y="282676"/>
                  </a:lnTo>
                  <a:lnTo>
                    <a:pt x="13398" y="292468"/>
                  </a:lnTo>
                  <a:lnTo>
                    <a:pt x="3594" y="306997"/>
                  </a:lnTo>
                  <a:lnTo>
                    <a:pt x="0" y="324802"/>
                  </a:lnTo>
                  <a:lnTo>
                    <a:pt x="3594" y="342595"/>
                  </a:lnTo>
                  <a:lnTo>
                    <a:pt x="13398" y="357124"/>
                  </a:lnTo>
                  <a:lnTo>
                    <a:pt x="27927" y="366928"/>
                  </a:lnTo>
                  <a:lnTo>
                    <a:pt x="45720" y="370522"/>
                  </a:lnTo>
                  <a:lnTo>
                    <a:pt x="1590090" y="370522"/>
                  </a:lnTo>
                  <a:lnTo>
                    <a:pt x="1596732" y="397459"/>
                  </a:lnTo>
                  <a:lnTo>
                    <a:pt x="1615046" y="440778"/>
                  </a:lnTo>
                  <a:lnTo>
                    <a:pt x="1639608" y="480352"/>
                  </a:lnTo>
                  <a:lnTo>
                    <a:pt x="1669783" y="515543"/>
                  </a:lnTo>
                  <a:lnTo>
                    <a:pt x="1704975" y="545731"/>
                  </a:lnTo>
                  <a:lnTo>
                    <a:pt x="1744548" y="570293"/>
                  </a:lnTo>
                  <a:lnTo>
                    <a:pt x="1787880" y="588606"/>
                  </a:lnTo>
                  <a:lnTo>
                    <a:pt x="1834349" y="600049"/>
                  </a:lnTo>
                  <a:lnTo>
                    <a:pt x="1883333" y="603999"/>
                  </a:lnTo>
                  <a:lnTo>
                    <a:pt x="1932317" y="600049"/>
                  </a:lnTo>
                  <a:lnTo>
                    <a:pt x="1978787" y="588606"/>
                  </a:lnTo>
                  <a:lnTo>
                    <a:pt x="2022119" y="570293"/>
                  </a:lnTo>
                  <a:lnTo>
                    <a:pt x="2061692" y="545731"/>
                  </a:lnTo>
                  <a:lnTo>
                    <a:pt x="2096884" y="515543"/>
                  </a:lnTo>
                  <a:lnTo>
                    <a:pt x="2127072" y="480352"/>
                  </a:lnTo>
                  <a:lnTo>
                    <a:pt x="2151634" y="440778"/>
                  </a:lnTo>
                  <a:lnTo>
                    <a:pt x="2169934" y="397459"/>
                  </a:lnTo>
                  <a:lnTo>
                    <a:pt x="2176564" y="370522"/>
                  </a:lnTo>
                  <a:lnTo>
                    <a:pt x="3721062" y="370522"/>
                  </a:lnTo>
                  <a:lnTo>
                    <a:pt x="3738867" y="366928"/>
                  </a:lnTo>
                  <a:lnTo>
                    <a:pt x="3753396" y="357124"/>
                  </a:lnTo>
                  <a:lnTo>
                    <a:pt x="3763187" y="342595"/>
                  </a:lnTo>
                  <a:lnTo>
                    <a:pt x="3766782" y="324802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5149" y="3011329"/>
              <a:ext cx="241578" cy="314087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884103" y="3649423"/>
            <a:ext cx="2937510" cy="139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50" dirty="0">
                <a:solidFill>
                  <a:srgbClr val="66534E"/>
                </a:solidFill>
                <a:latin typeface="Calibri"/>
                <a:cs typeface="Calibri"/>
              </a:rPr>
              <a:t>semantic_search()</a:t>
            </a:r>
            <a:endParaRPr sz="2250">
              <a:latin typeface="Calibri"/>
              <a:cs typeface="Calibri"/>
            </a:endParaRPr>
          </a:p>
          <a:p>
            <a:pPr marL="12700" marR="5080">
              <a:lnSpc>
                <a:spcPct val="133100"/>
              </a:lnSpc>
              <a:spcBef>
                <a:spcPts val="620"/>
              </a:spcBef>
            </a:pPr>
            <a:r>
              <a:rPr sz="1550" spc="135" dirty="0">
                <a:solidFill>
                  <a:srgbClr val="66534E"/>
                </a:solidFill>
                <a:latin typeface="Calibri"/>
                <a:cs typeface="Calibri"/>
              </a:rPr>
              <a:t>Identiﬁes</a:t>
            </a:r>
            <a:r>
              <a:rPr sz="15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25" dirty="0">
                <a:solidFill>
                  <a:srgbClr val="66534E"/>
                </a:solidFill>
                <a:latin typeface="Calibri"/>
                <a:cs typeface="Calibri"/>
              </a:rPr>
              <a:t>relevant</a:t>
            </a:r>
            <a:r>
              <a:rPr sz="15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80" dirty="0">
                <a:solidFill>
                  <a:srgbClr val="66534E"/>
                </a:solidFill>
                <a:latin typeface="Calibri"/>
                <a:cs typeface="Calibri"/>
              </a:rPr>
              <a:t>knowledge </a:t>
            </a:r>
            <a:r>
              <a:rPr sz="1550" spc="195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15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14" dirty="0">
                <a:solidFill>
                  <a:srgbClr val="66534E"/>
                </a:solidFill>
                <a:latin typeface="Calibri"/>
                <a:cs typeface="Calibri"/>
              </a:rPr>
              <a:t>triples</a:t>
            </a:r>
            <a:r>
              <a:rPr sz="15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75" dirty="0">
                <a:solidFill>
                  <a:srgbClr val="66534E"/>
                </a:solidFill>
                <a:latin typeface="Calibri"/>
                <a:cs typeface="Calibri"/>
              </a:rPr>
              <a:t>by</a:t>
            </a:r>
            <a:r>
              <a:rPr sz="15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200" dirty="0">
                <a:solidFill>
                  <a:srgbClr val="66534E"/>
                </a:solidFill>
                <a:latin typeface="Calibri"/>
                <a:cs typeface="Calibri"/>
              </a:rPr>
              <a:t>computing </a:t>
            </a:r>
            <a:r>
              <a:rPr sz="1550" spc="180" dirty="0">
                <a:solidFill>
                  <a:srgbClr val="66534E"/>
                </a:solidFill>
                <a:latin typeface="Calibri"/>
                <a:cs typeface="Calibri"/>
              </a:rPr>
              <a:t>semantic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85" dirty="0">
                <a:solidFill>
                  <a:srgbClr val="66534E"/>
                </a:solidFill>
                <a:latin typeface="Calibri"/>
                <a:cs typeface="Calibri"/>
              </a:rPr>
              <a:t>similarity.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4611" y="5379244"/>
            <a:ext cx="7734934" cy="1788160"/>
            <a:chOff x="704611" y="5379244"/>
            <a:chExt cx="7734934" cy="1788160"/>
          </a:xfrm>
        </p:grpSpPr>
        <p:sp>
          <p:nvSpPr>
            <p:cNvPr id="16" name="object 16"/>
            <p:cNvSpPr/>
            <p:nvPr/>
          </p:nvSpPr>
          <p:spPr>
            <a:xfrm>
              <a:off x="704611" y="5681185"/>
              <a:ext cx="7734934" cy="1486535"/>
            </a:xfrm>
            <a:custGeom>
              <a:avLst/>
              <a:gdLst/>
              <a:ahLst/>
              <a:cxnLst/>
              <a:rect l="l" t="t" r="r" b="b"/>
              <a:pathLst>
                <a:path w="7734934" h="1486534">
                  <a:moveTo>
                    <a:pt x="7625054" y="1486138"/>
                  </a:moveTo>
                  <a:lnTo>
                    <a:pt x="109721" y="1486138"/>
                  </a:lnTo>
                  <a:lnTo>
                    <a:pt x="67012" y="1477515"/>
                  </a:lnTo>
                  <a:lnTo>
                    <a:pt x="32136" y="1454001"/>
                  </a:lnTo>
                  <a:lnTo>
                    <a:pt x="8622" y="1419124"/>
                  </a:lnTo>
                  <a:lnTo>
                    <a:pt x="0" y="1376416"/>
                  </a:lnTo>
                  <a:lnTo>
                    <a:pt x="0" y="109721"/>
                  </a:lnTo>
                  <a:lnTo>
                    <a:pt x="8622" y="67013"/>
                  </a:lnTo>
                  <a:lnTo>
                    <a:pt x="32136" y="32136"/>
                  </a:lnTo>
                  <a:lnTo>
                    <a:pt x="67012" y="8622"/>
                  </a:lnTo>
                  <a:lnTo>
                    <a:pt x="109721" y="0"/>
                  </a:lnTo>
                  <a:lnTo>
                    <a:pt x="7625054" y="0"/>
                  </a:lnTo>
                  <a:lnTo>
                    <a:pt x="7667043" y="8352"/>
                  </a:lnTo>
                  <a:lnTo>
                    <a:pt x="7702639" y="32136"/>
                  </a:lnTo>
                  <a:lnTo>
                    <a:pt x="7726424" y="67732"/>
                  </a:lnTo>
                  <a:lnTo>
                    <a:pt x="7734776" y="109721"/>
                  </a:lnTo>
                  <a:lnTo>
                    <a:pt x="7734776" y="1376416"/>
                  </a:lnTo>
                  <a:lnTo>
                    <a:pt x="7726153" y="1419124"/>
                  </a:lnTo>
                  <a:lnTo>
                    <a:pt x="7702639" y="1454001"/>
                  </a:lnTo>
                  <a:lnTo>
                    <a:pt x="7667763" y="1477515"/>
                  </a:lnTo>
                  <a:lnTo>
                    <a:pt x="7625054" y="1486138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4608" y="5379249"/>
              <a:ext cx="7734934" cy="604520"/>
            </a:xfrm>
            <a:custGeom>
              <a:avLst/>
              <a:gdLst/>
              <a:ahLst/>
              <a:cxnLst/>
              <a:rect l="l" t="t" r="r" b="b"/>
              <a:pathLst>
                <a:path w="7734934" h="604520">
                  <a:moveTo>
                    <a:pt x="7734770" y="324802"/>
                  </a:moveTo>
                  <a:lnTo>
                    <a:pt x="7714424" y="286766"/>
                  </a:lnTo>
                  <a:lnTo>
                    <a:pt x="7689050" y="279082"/>
                  </a:lnTo>
                  <a:lnTo>
                    <a:pt x="4167568" y="279082"/>
                  </a:lnTo>
                  <a:lnTo>
                    <a:pt x="4165625" y="254469"/>
                  </a:lnTo>
                  <a:lnTo>
                    <a:pt x="4154563" y="208546"/>
                  </a:lnTo>
                  <a:lnTo>
                    <a:pt x="4136529" y="165023"/>
                  </a:lnTo>
                  <a:lnTo>
                    <a:pt x="4111879" y="124726"/>
                  </a:lnTo>
                  <a:lnTo>
                    <a:pt x="4080929" y="88455"/>
                  </a:lnTo>
                  <a:lnTo>
                    <a:pt x="4044670" y="57505"/>
                  </a:lnTo>
                  <a:lnTo>
                    <a:pt x="4004360" y="32854"/>
                  </a:lnTo>
                  <a:lnTo>
                    <a:pt x="3960838" y="14820"/>
                  </a:lnTo>
                  <a:lnTo>
                    <a:pt x="3914914" y="3759"/>
                  </a:lnTo>
                  <a:lnTo>
                    <a:pt x="3867391" y="0"/>
                  </a:lnTo>
                  <a:lnTo>
                    <a:pt x="3818394" y="3949"/>
                  </a:lnTo>
                  <a:lnTo>
                    <a:pt x="3771925" y="15392"/>
                  </a:lnTo>
                  <a:lnTo>
                    <a:pt x="3728593" y="33705"/>
                  </a:lnTo>
                  <a:lnTo>
                    <a:pt x="3689032" y="58267"/>
                  </a:lnTo>
                  <a:lnTo>
                    <a:pt x="3653840" y="88455"/>
                  </a:lnTo>
                  <a:lnTo>
                    <a:pt x="3623653" y="123647"/>
                  </a:lnTo>
                  <a:lnTo>
                    <a:pt x="3599091" y="163220"/>
                  </a:lnTo>
                  <a:lnTo>
                    <a:pt x="3580777" y="206540"/>
                  </a:lnTo>
                  <a:lnTo>
                    <a:pt x="3569335" y="253022"/>
                  </a:lnTo>
                  <a:lnTo>
                    <a:pt x="3567226" y="279082"/>
                  </a:lnTo>
                  <a:lnTo>
                    <a:pt x="45720" y="279082"/>
                  </a:lnTo>
                  <a:lnTo>
                    <a:pt x="27914" y="282676"/>
                  </a:lnTo>
                  <a:lnTo>
                    <a:pt x="13385" y="292468"/>
                  </a:lnTo>
                  <a:lnTo>
                    <a:pt x="3594" y="307009"/>
                  </a:lnTo>
                  <a:lnTo>
                    <a:pt x="0" y="324802"/>
                  </a:lnTo>
                  <a:lnTo>
                    <a:pt x="3594" y="342595"/>
                  </a:lnTo>
                  <a:lnTo>
                    <a:pt x="13385" y="357136"/>
                  </a:lnTo>
                  <a:lnTo>
                    <a:pt x="27914" y="366928"/>
                  </a:lnTo>
                  <a:lnTo>
                    <a:pt x="45720" y="370522"/>
                  </a:lnTo>
                  <a:lnTo>
                    <a:pt x="3574135" y="370522"/>
                  </a:lnTo>
                  <a:lnTo>
                    <a:pt x="3580777" y="397459"/>
                  </a:lnTo>
                  <a:lnTo>
                    <a:pt x="3599091" y="440791"/>
                  </a:lnTo>
                  <a:lnTo>
                    <a:pt x="3623653" y="480364"/>
                  </a:lnTo>
                  <a:lnTo>
                    <a:pt x="3653840" y="515543"/>
                  </a:lnTo>
                  <a:lnTo>
                    <a:pt x="3689032" y="545731"/>
                  </a:lnTo>
                  <a:lnTo>
                    <a:pt x="3728593" y="570293"/>
                  </a:lnTo>
                  <a:lnTo>
                    <a:pt x="3771925" y="588606"/>
                  </a:lnTo>
                  <a:lnTo>
                    <a:pt x="3818394" y="600049"/>
                  </a:lnTo>
                  <a:lnTo>
                    <a:pt x="3867391" y="603999"/>
                  </a:lnTo>
                  <a:lnTo>
                    <a:pt x="3916375" y="600049"/>
                  </a:lnTo>
                  <a:lnTo>
                    <a:pt x="3962844" y="588606"/>
                  </a:lnTo>
                  <a:lnTo>
                    <a:pt x="4006177" y="570293"/>
                  </a:lnTo>
                  <a:lnTo>
                    <a:pt x="4045737" y="545731"/>
                  </a:lnTo>
                  <a:lnTo>
                    <a:pt x="4080929" y="515543"/>
                  </a:lnTo>
                  <a:lnTo>
                    <a:pt x="4111117" y="480364"/>
                  </a:lnTo>
                  <a:lnTo>
                    <a:pt x="4135678" y="440791"/>
                  </a:lnTo>
                  <a:lnTo>
                    <a:pt x="4153992" y="397459"/>
                  </a:lnTo>
                  <a:lnTo>
                    <a:pt x="4160621" y="370522"/>
                  </a:lnTo>
                  <a:lnTo>
                    <a:pt x="7689050" y="370522"/>
                  </a:lnTo>
                  <a:lnTo>
                    <a:pt x="7706855" y="366928"/>
                  </a:lnTo>
                  <a:lnTo>
                    <a:pt x="7721384" y="357136"/>
                  </a:lnTo>
                  <a:lnTo>
                    <a:pt x="7731176" y="342595"/>
                  </a:lnTo>
                  <a:lnTo>
                    <a:pt x="7734770" y="324802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1210" y="5524143"/>
              <a:ext cx="241578" cy="314086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16107" y="6162237"/>
            <a:ext cx="6995159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50" dirty="0">
                <a:solidFill>
                  <a:srgbClr val="66534E"/>
                </a:solidFill>
                <a:latin typeface="Calibri"/>
                <a:cs typeface="Calibri"/>
              </a:rPr>
              <a:t>visualize_node_graph()</a:t>
            </a: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550" spc="140" dirty="0">
                <a:solidFill>
                  <a:srgbClr val="66534E"/>
                </a:solidFill>
                <a:latin typeface="Calibri"/>
                <a:cs typeface="Calibri"/>
              </a:rPr>
              <a:t>Generates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20" dirty="0">
                <a:solidFill>
                  <a:srgbClr val="66534E"/>
                </a:solidFill>
                <a:latin typeface="Calibri"/>
                <a:cs typeface="Calibri"/>
              </a:rPr>
              <a:t>interactive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90" dirty="0">
                <a:solidFill>
                  <a:srgbClr val="66534E"/>
                </a:solidFill>
                <a:latin typeface="Calibri"/>
                <a:cs typeface="Calibri"/>
              </a:rPr>
              <a:t>subgraphs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10" dirty="0">
                <a:solidFill>
                  <a:srgbClr val="66534E"/>
                </a:solidFill>
                <a:latin typeface="Calibri"/>
                <a:cs typeface="Calibri"/>
              </a:rPr>
              <a:t>to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14" dirty="0">
                <a:solidFill>
                  <a:srgbClr val="66534E"/>
                </a:solidFill>
                <a:latin typeface="Calibri"/>
                <a:cs typeface="Calibri"/>
              </a:rPr>
              <a:t>clearly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30" dirty="0">
                <a:solidFill>
                  <a:srgbClr val="66534E"/>
                </a:solidFill>
                <a:latin typeface="Calibri"/>
                <a:cs typeface="Calibri"/>
              </a:rPr>
              <a:t>visualize</a:t>
            </a:r>
            <a:r>
              <a:rPr sz="15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14" dirty="0">
                <a:solidFill>
                  <a:srgbClr val="66534E"/>
                </a:solidFill>
                <a:latin typeface="Calibri"/>
                <a:cs typeface="Calibri"/>
              </a:rPr>
              <a:t>entity</a:t>
            </a:r>
            <a:r>
              <a:rPr sz="15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50" spc="110" dirty="0">
                <a:solidFill>
                  <a:srgbClr val="66534E"/>
                </a:solidFill>
                <a:latin typeface="Calibri"/>
                <a:cs typeface="Calibri"/>
              </a:rPr>
              <a:t>relationships.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8" cy="225111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612" y="2703392"/>
            <a:ext cx="7864475" cy="612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50" spc="265" dirty="0"/>
              <a:t>Node</a:t>
            </a:r>
            <a:r>
              <a:rPr sz="3850" spc="280" dirty="0"/>
              <a:t> </a:t>
            </a:r>
            <a:r>
              <a:rPr sz="3850" spc="110" dirty="0"/>
              <a:t>Visualization</a:t>
            </a:r>
            <a:r>
              <a:rPr sz="3850" spc="290" dirty="0"/>
              <a:t> </a:t>
            </a:r>
            <a:r>
              <a:rPr sz="3850" spc="315" dirty="0"/>
              <a:t>&amp;</a:t>
            </a:r>
            <a:r>
              <a:rPr sz="3850" spc="290" dirty="0"/>
              <a:t> </a:t>
            </a:r>
            <a:r>
              <a:rPr sz="3850" spc="140" dirty="0"/>
              <a:t>UI</a:t>
            </a:r>
            <a:r>
              <a:rPr sz="3850" spc="295" dirty="0"/>
              <a:t> </a:t>
            </a:r>
            <a:r>
              <a:rPr sz="3850" spc="150" dirty="0"/>
              <a:t>Integration</a:t>
            </a:r>
            <a:endParaRPr sz="3850"/>
          </a:p>
        </p:txBody>
      </p:sp>
      <p:sp>
        <p:nvSpPr>
          <p:cNvPr id="4" name="object 4"/>
          <p:cNvSpPr txBox="1"/>
          <p:nvPr/>
        </p:nvSpPr>
        <p:spPr>
          <a:xfrm>
            <a:off x="587612" y="3614301"/>
            <a:ext cx="82575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110" dirty="0">
                <a:solidFill>
                  <a:srgbClr val="66534E"/>
                </a:solidFill>
                <a:latin typeface="Calibri"/>
                <a:cs typeface="Calibri"/>
              </a:rPr>
              <a:t>Visualize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25" dirty="0">
                <a:solidFill>
                  <a:srgbClr val="66534E"/>
                </a:solidFill>
                <a:latin typeface="Calibri"/>
                <a:cs typeface="Calibri"/>
              </a:rPr>
              <a:t>context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45" dirty="0">
                <a:solidFill>
                  <a:srgbClr val="66534E"/>
                </a:solidFill>
                <a:latin typeface="Calibri"/>
                <a:cs typeface="Calibri"/>
              </a:rPr>
              <a:t>around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75" dirty="0">
                <a:solidFill>
                  <a:srgbClr val="66534E"/>
                </a:solidFill>
                <a:latin typeface="Calibri"/>
                <a:cs typeface="Calibri"/>
              </a:rPr>
              <a:t>matched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85" dirty="0">
                <a:solidFill>
                  <a:srgbClr val="66534E"/>
                </a:solidFill>
                <a:latin typeface="Calibri"/>
                <a:cs typeface="Calibri"/>
              </a:rPr>
              <a:t>entities;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14" dirty="0">
                <a:solidFill>
                  <a:srgbClr val="66534E"/>
                </a:solidFill>
                <a:latin typeface="Calibri"/>
                <a:cs typeface="Calibri"/>
              </a:rPr>
              <a:t>integrate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05" dirty="0">
                <a:solidFill>
                  <a:srgbClr val="66534E"/>
                </a:solidFill>
                <a:latin typeface="Calibri"/>
                <a:cs typeface="Calibri"/>
              </a:rPr>
              <a:t>into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20" dirty="0">
                <a:solidFill>
                  <a:srgbClr val="66534E"/>
                </a:solidFill>
                <a:latin typeface="Calibri"/>
                <a:cs typeface="Calibri"/>
              </a:rPr>
              <a:t>Streamlit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45" dirty="0">
                <a:solidFill>
                  <a:srgbClr val="66534E"/>
                </a:solidFill>
                <a:latin typeface="Calibri"/>
                <a:cs typeface="Calibri"/>
              </a:rPr>
              <a:t>seamless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25" dirty="0">
                <a:solidFill>
                  <a:srgbClr val="66534E"/>
                </a:solidFill>
                <a:latin typeface="Calibri"/>
                <a:cs typeface="Calibri"/>
              </a:rPr>
              <a:t>user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00" dirty="0">
                <a:solidFill>
                  <a:srgbClr val="66534E"/>
                </a:solidFill>
                <a:latin typeface="Calibri"/>
                <a:cs typeface="Calibri"/>
              </a:rPr>
              <a:t>experience.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2700" y="4044798"/>
            <a:ext cx="6644640" cy="1721485"/>
            <a:chOff x="592700" y="4044798"/>
            <a:chExt cx="6644640" cy="1721485"/>
          </a:xfrm>
        </p:grpSpPr>
        <p:sp>
          <p:nvSpPr>
            <p:cNvPr id="6" name="object 6"/>
            <p:cNvSpPr/>
            <p:nvPr/>
          </p:nvSpPr>
          <p:spPr>
            <a:xfrm>
              <a:off x="600312" y="4052410"/>
              <a:ext cx="6629400" cy="1706245"/>
            </a:xfrm>
            <a:custGeom>
              <a:avLst/>
              <a:gdLst/>
              <a:ahLst/>
              <a:cxnLst/>
              <a:rect l="l" t="t" r="r" b="b"/>
              <a:pathLst>
                <a:path w="6629400" h="1706245">
                  <a:moveTo>
                    <a:pt x="6557113" y="1705689"/>
                  </a:moveTo>
                  <a:lnTo>
                    <a:pt x="72048" y="1705689"/>
                  </a:lnTo>
                  <a:lnTo>
                    <a:pt x="44003" y="1700027"/>
                  </a:lnTo>
                  <a:lnTo>
                    <a:pt x="21102" y="1684586"/>
                  </a:lnTo>
                  <a:lnTo>
                    <a:pt x="5661" y="1661685"/>
                  </a:lnTo>
                  <a:lnTo>
                    <a:pt x="0" y="1633640"/>
                  </a:lnTo>
                  <a:lnTo>
                    <a:pt x="0" y="72048"/>
                  </a:lnTo>
                  <a:lnTo>
                    <a:pt x="5661" y="44003"/>
                  </a:lnTo>
                  <a:lnTo>
                    <a:pt x="21102" y="21102"/>
                  </a:lnTo>
                  <a:lnTo>
                    <a:pt x="44003" y="5661"/>
                  </a:lnTo>
                  <a:lnTo>
                    <a:pt x="72048" y="0"/>
                  </a:lnTo>
                  <a:lnTo>
                    <a:pt x="6557113" y="0"/>
                  </a:lnTo>
                  <a:lnTo>
                    <a:pt x="6597086" y="12104"/>
                  </a:lnTo>
                  <a:lnTo>
                    <a:pt x="6623677" y="44476"/>
                  </a:lnTo>
                  <a:lnTo>
                    <a:pt x="6629161" y="72048"/>
                  </a:lnTo>
                  <a:lnTo>
                    <a:pt x="6629161" y="1633640"/>
                  </a:lnTo>
                  <a:lnTo>
                    <a:pt x="6623500" y="1661685"/>
                  </a:lnTo>
                  <a:lnTo>
                    <a:pt x="6608059" y="1684586"/>
                  </a:lnTo>
                  <a:lnTo>
                    <a:pt x="6585158" y="1700027"/>
                  </a:lnTo>
                  <a:lnTo>
                    <a:pt x="6557113" y="1705689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0312" y="4052410"/>
              <a:ext cx="6629400" cy="1706245"/>
            </a:xfrm>
            <a:custGeom>
              <a:avLst/>
              <a:gdLst/>
              <a:ahLst/>
              <a:cxnLst/>
              <a:rect l="l" t="t" r="r" b="b"/>
              <a:pathLst>
                <a:path w="6629400" h="1706245">
                  <a:moveTo>
                    <a:pt x="0" y="72048"/>
                  </a:moveTo>
                  <a:lnTo>
                    <a:pt x="5661" y="44003"/>
                  </a:lnTo>
                  <a:lnTo>
                    <a:pt x="21102" y="21102"/>
                  </a:lnTo>
                  <a:lnTo>
                    <a:pt x="44003" y="5661"/>
                  </a:lnTo>
                  <a:lnTo>
                    <a:pt x="72048" y="0"/>
                  </a:lnTo>
                  <a:lnTo>
                    <a:pt x="6557113" y="0"/>
                  </a:lnTo>
                  <a:lnTo>
                    <a:pt x="6597086" y="12104"/>
                  </a:lnTo>
                  <a:lnTo>
                    <a:pt x="6623677" y="44476"/>
                  </a:lnTo>
                  <a:lnTo>
                    <a:pt x="6629161" y="72048"/>
                  </a:lnTo>
                  <a:lnTo>
                    <a:pt x="6629161" y="1633640"/>
                  </a:lnTo>
                  <a:lnTo>
                    <a:pt x="6623500" y="1661685"/>
                  </a:lnTo>
                  <a:lnTo>
                    <a:pt x="6608059" y="1684586"/>
                  </a:lnTo>
                  <a:lnTo>
                    <a:pt x="6585158" y="1700027"/>
                  </a:lnTo>
                  <a:lnTo>
                    <a:pt x="6557113" y="1705689"/>
                  </a:lnTo>
                  <a:lnTo>
                    <a:pt x="72048" y="1705689"/>
                  </a:lnTo>
                  <a:lnTo>
                    <a:pt x="44003" y="1700027"/>
                  </a:lnTo>
                  <a:lnTo>
                    <a:pt x="21102" y="1684586"/>
                  </a:lnTo>
                  <a:lnTo>
                    <a:pt x="5661" y="1661685"/>
                  </a:lnTo>
                  <a:lnTo>
                    <a:pt x="0" y="1633640"/>
                  </a:lnTo>
                  <a:lnTo>
                    <a:pt x="0" y="72048"/>
                  </a:lnTo>
                  <a:close/>
                </a:path>
              </a:pathLst>
            </a:custGeom>
            <a:ln w="152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87002" y="4239101"/>
              <a:ext cx="514984" cy="514984"/>
            </a:xfrm>
            <a:custGeom>
              <a:avLst/>
              <a:gdLst/>
              <a:ahLst/>
              <a:cxnLst/>
              <a:rect l="l" t="t" r="r" b="b"/>
              <a:pathLst>
                <a:path w="514984" h="514985">
                  <a:moveTo>
                    <a:pt x="257234" y="514468"/>
                  </a:moveTo>
                  <a:lnTo>
                    <a:pt x="210996" y="510324"/>
                  </a:lnTo>
                  <a:lnTo>
                    <a:pt x="167477" y="498375"/>
                  </a:lnTo>
                  <a:lnTo>
                    <a:pt x="127403" y="479348"/>
                  </a:lnTo>
                  <a:lnTo>
                    <a:pt x="91501" y="453970"/>
                  </a:lnTo>
                  <a:lnTo>
                    <a:pt x="60498" y="422967"/>
                  </a:lnTo>
                  <a:lnTo>
                    <a:pt x="35120" y="387065"/>
                  </a:lnTo>
                  <a:lnTo>
                    <a:pt x="16093" y="346991"/>
                  </a:lnTo>
                  <a:lnTo>
                    <a:pt x="4144" y="303472"/>
                  </a:lnTo>
                  <a:lnTo>
                    <a:pt x="0" y="257234"/>
                  </a:lnTo>
                  <a:lnTo>
                    <a:pt x="4144" y="210996"/>
                  </a:lnTo>
                  <a:lnTo>
                    <a:pt x="16093" y="167476"/>
                  </a:lnTo>
                  <a:lnTo>
                    <a:pt x="35120" y="127403"/>
                  </a:lnTo>
                  <a:lnTo>
                    <a:pt x="60498" y="91501"/>
                  </a:lnTo>
                  <a:lnTo>
                    <a:pt x="91501" y="60498"/>
                  </a:lnTo>
                  <a:lnTo>
                    <a:pt x="127403" y="35119"/>
                  </a:lnTo>
                  <a:lnTo>
                    <a:pt x="167477" y="16093"/>
                  </a:lnTo>
                  <a:lnTo>
                    <a:pt x="210996" y="4144"/>
                  </a:lnTo>
                  <a:lnTo>
                    <a:pt x="257234" y="0"/>
                  </a:lnTo>
                  <a:lnTo>
                    <a:pt x="307652" y="4988"/>
                  </a:lnTo>
                  <a:lnTo>
                    <a:pt x="355673" y="19580"/>
                  </a:lnTo>
                  <a:lnTo>
                    <a:pt x="399948" y="43218"/>
                  </a:lnTo>
                  <a:lnTo>
                    <a:pt x="439126" y="75341"/>
                  </a:lnTo>
                  <a:lnTo>
                    <a:pt x="471250" y="114520"/>
                  </a:lnTo>
                  <a:lnTo>
                    <a:pt x="494888" y="158794"/>
                  </a:lnTo>
                  <a:lnTo>
                    <a:pt x="509480" y="206815"/>
                  </a:lnTo>
                  <a:lnTo>
                    <a:pt x="514468" y="257234"/>
                  </a:lnTo>
                  <a:lnTo>
                    <a:pt x="510324" y="303472"/>
                  </a:lnTo>
                  <a:lnTo>
                    <a:pt x="498375" y="346991"/>
                  </a:lnTo>
                  <a:lnTo>
                    <a:pt x="479348" y="387065"/>
                  </a:lnTo>
                  <a:lnTo>
                    <a:pt x="453970" y="422967"/>
                  </a:lnTo>
                  <a:lnTo>
                    <a:pt x="422967" y="453970"/>
                  </a:lnTo>
                  <a:lnTo>
                    <a:pt x="387065" y="479348"/>
                  </a:lnTo>
                  <a:lnTo>
                    <a:pt x="346991" y="498375"/>
                  </a:lnTo>
                  <a:lnTo>
                    <a:pt x="303472" y="510324"/>
                  </a:lnTo>
                  <a:lnTo>
                    <a:pt x="257234" y="514468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8449" y="4345781"/>
              <a:ext cx="231457" cy="30098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74302" y="4899619"/>
            <a:ext cx="530987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10" dirty="0">
                <a:solidFill>
                  <a:srgbClr val="66534E"/>
                </a:solidFill>
                <a:latin typeface="Calibri"/>
                <a:cs typeface="Calibri"/>
              </a:rPr>
              <a:t>Main</a:t>
            </a:r>
            <a:r>
              <a:rPr sz="1900" spc="14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900" spc="55" dirty="0">
                <a:solidFill>
                  <a:srgbClr val="66534E"/>
                </a:solidFill>
                <a:latin typeface="Calibri"/>
                <a:cs typeface="Calibri"/>
              </a:rPr>
              <a:t>Interface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350" spc="160" dirty="0">
                <a:solidFill>
                  <a:srgbClr val="66534E"/>
                </a:solidFill>
                <a:latin typeface="Calibri"/>
                <a:cs typeface="Calibri"/>
              </a:rPr>
              <a:t>Setup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20" dirty="0">
                <a:solidFill>
                  <a:srgbClr val="66534E"/>
                </a:solidFill>
                <a:latin typeface="Calibri"/>
                <a:cs typeface="Calibri"/>
              </a:rPr>
              <a:t>`st.title`,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35" dirty="0">
                <a:solidFill>
                  <a:srgbClr val="66534E"/>
                </a:solidFill>
                <a:latin typeface="Calibri"/>
                <a:cs typeface="Calibri"/>
              </a:rPr>
              <a:t>navigation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10" dirty="0">
                <a:solidFill>
                  <a:srgbClr val="66534E"/>
                </a:solidFill>
                <a:latin typeface="Calibri"/>
                <a:cs typeface="Calibri"/>
              </a:rPr>
              <a:t>buttons,</a:t>
            </a:r>
            <a:r>
              <a:rPr sz="13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75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95" dirty="0">
                <a:solidFill>
                  <a:srgbClr val="66534E"/>
                </a:solidFill>
                <a:latin typeface="Calibri"/>
                <a:cs typeface="Calibri"/>
              </a:rPr>
              <a:t>text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40" dirty="0">
                <a:solidFill>
                  <a:srgbClr val="66534E"/>
                </a:solidFill>
                <a:latin typeface="Calibri"/>
                <a:cs typeface="Calibri"/>
              </a:rPr>
              <a:t>input</a:t>
            </a:r>
            <a:r>
              <a:rPr sz="13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90" dirty="0">
                <a:solidFill>
                  <a:srgbClr val="66534E"/>
                </a:solidFill>
                <a:latin typeface="Calibri"/>
                <a:cs typeface="Calibri"/>
              </a:rPr>
              <a:t>queries.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93312" y="4044798"/>
            <a:ext cx="6644640" cy="1721485"/>
            <a:chOff x="7393312" y="4044798"/>
            <a:chExt cx="6644640" cy="1721485"/>
          </a:xfrm>
        </p:grpSpPr>
        <p:sp>
          <p:nvSpPr>
            <p:cNvPr id="12" name="object 12"/>
            <p:cNvSpPr/>
            <p:nvPr/>
          </p:nvSpPr>
          <p:spPr>
            <a:xfrm>
              <a:off x="7400924" y="4052410"/>
              <a:ext cx="6629400" cy="1706245"/>
            </a:xfrm>
            <a:custGeom>
              <a:avLst/>
              <a:gdLst/>
              <a:ahLst/>
              <a:cxnLst/>
              <a:rect l="l" t="t" r="r" b="b"/>
              <a:pathLst>
                <a:path w="6629400" h="1706245">
                  <a:moveTo>
                    <a:pt x="6557113" y="1705689"/>
                  </a:moveTo>
                  <a:lnTo>
                    <a:pt x="72048" y="1705689"/>
                  </a:lnTo>
                  <a:lnTo>
                    <a:pt x="44003" y="1700027"/>
                  </a:lnTo>
                  <a:lnTo>
                    <a:pt x="21102" y="1684586"/>
                  </a:lnTo>
                  <a:lnTo>
                    <a:pt x="5661" y="1661685"/>
                  </a:lnTo>
                  <a:lnTo>
                    <a:pt x="0" y="1633640"/>
                  </a:lnTo>
                  <a:lnTo>
                    <a:pt x="0" y="72048"/>
                  </a:lnTo>
                  <a:lnTo>
                    <a:pt x="5661" y="44003"/>
                  </a:lnTo>
                  <a:lnTo>
                    <a:pt x="21102" y="21102"/>
                  </a:lnTo>
                  <a:lnTo>
                    <a:pt x="44003" y="5661"/>
                  </a:lnTo>
                  <a:lnTo>
                    <a:pt x="72048" y="0"/>
                  </a:lnTo>
                  <a:lnTo>
                    <a:pt x="6557113" y="0"/>
                  </a:lnTo>
                  <a:lnTo>
                    <a:pt x="6597086" y="12104"/>
                  </a:lnTo>
                  <a:lnTo>
                    <a:pt x="6623678" y="44476"/>
                  </a:lnTo>
                  <a:lnTo>
                    <a:pt x="6629162" y="72048"/>
                  </a:lnTo>
                  <a:lnTo>
                    <a:pt x="6629162" y="1633640"/>
                  </a:lnTo>
                  <a:lnTo>
                    <a:pt x="6623500" y="1661685"/>
                  </a:lnTo>
                  <a:lnTo>
                    <a:pt x="6608059" y="1684586"/>
                  </a:lnTo>
                  <a:lnTo>
                    <a:pt x="6585158" y="1700027"/>
                  </a:lnTo>
                  <a:lnTo>
                    <a:pt x="6557113" y="1705689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00924" y="4052410"/>
              <a:ext cx="6629400" cy="1706245"/>
            </a:xfrm>
            <a:custGeom>
              <a:avLst/>
              <a:gdLst/>
              <a:ahLst/>
              <a:cxnLst/>
              <a:rect l="l" t="t" r="r" b="b"/>
              <a:pathLst>
                <a:path w="6629400" h="1706245">
                  <a:moveTo>
                    <a:pt x="0" y="72048"/>
                  </a:moveTo>
                  <a:lnTo>
                    <a:pt x="5661" y="44003"/>
                  </a:lnTo>
                  <a:lnTo>
                    <a:pt x="21102" y="21102"/>
                  </a:lnTo>
                  <a:lnTo>
                    <a:pt x="44003" y="5661"/>
                  </a:lnTo>
                  <a:lnTo>
                    <a:pt x="72048" y="0"/>
                  </a:lnTo>
                  <a:lnTo>
                    <a:pt x="6557113" y="0"/>
                  </a:lnTo>
                  <a:lnTo>
                    <a:pt x="6597086" y="12104"/>
                  </a:lnTo>
                  <a:lnTo>
                    <a:pt x="6623678" y="44476"/>
                  </a:lnTo>
                  <a:lnTo>
                    <a:pt x="6629162" y="72048"/>
                  </a:lnTo>
                  <a:lnTo>
                    <a:pt x="6629162" y="1633640"/>
                  </a:lnTo>
                  <a:lnTo>
                    <a:pt x="6623500" y="1661685"/>
                  </a:lnTo>
                  <a:lnTo>
                    <a:pt x="6608059" y="1684586"/>
                  </a:lnTo>
                  <a:lnTo>
                    <a:pt x="6585158" y="1700027"/>
                  </a:lnTo>
                  <a:lnTo>
                    <a:pt x="6557113" y="1705689"/>
                  </a:lnTo>
                  <a:lnTo>
                    <a:pt x="72048" y="1705689"/>
                  </a:lnTo>
                  <a:lnTo>
                    <a:pt x="44003" y="1700027"/>
                  </a:lnTo>
                  <a:lnTo>
                    <a:pt x="21102" y="1684586"/>
                  </a:lnTo>
                  <a:lnTo>
                    <a:pt x="5661" y="1661685"/>
                  </a:lnTo>
                  <a:lnTo>
                    <a:pt x="0" y="1633640"/>
                  </a:lnTo>
                  <a:lnTo>
                    <a:pt x="0" y="72048"/>
                  </a:lnTo>
                  <a:close/>
                </a:path>
              </a:pathLst>
            </a:custGeom>
            <a:ln w="152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587614" y="4239101"/>
              <a:ext cx="514984" cy="514984"/>
            </a:xfrm>
            <a:custGeom>
              <a:avLst/>
              <a:gdLst/>
              <a:ahLst/>
              <a:cxnLst/>
              <a:rect l="l" t="t" r="r" b="b"/>
              <a:pathLst>
                <a:path w="514984" h="514985">
                  <a:moveTo>
                    <a:pt x="257234" y="514468"/>
                  </a:moveTo>
                  <a:lnTo>
                    <a:pt x="210996" y="510324"/>
                  </a:lnTo>
                  <a:lnTo>
                    <a:pt x="167477" y="498375"/>
                  </a:lnTo>
                  <a:lnTo>
                    <a:pt x="127403" y="479348"/>
                  </a:lnTo>
                  <a:lnTo>
                    <a:pt x="91501" y="453970"/>
                  </a:lnTo>
                  <a:lnTo>
                    <a:pt x="60498" y="422967"/>
                  </a:lnTo>
                  <a:lnTo>
                    <a:pt x="35120" y="387065"/>
                  </a:lnTo>
                  <a:lnTo>
                    <a:pt x="16093" y="346991"/>
                  </a:lnTo>
                  <a:lnTo>
                    <a:pt x="4144" y="303472"/>
                  </a:lnTo>
                  <a:lnTo>
                    <a:pt x="0" y="257234"/>
                  </a:lnTo>
                  <a:lnTo>
                    <a:pt x="4144" y="210996"/>
                  </a:lnTo>
                  <a:lnTo>
                    <a:pt x="16093" y="167476"/>
                  </a:lnTo>
                  <a:lnTo>
                    <a:pt x="35120" y="127403"/>
                  </a:lnTo>
                  <a:lnTo>
                    <a:pt x="60498" y="91501"/>
                  </a:lnTo>
                  <a:lnTo>
                    <a:pt x="91501" y="60498"/>
                  </a:lnTo>
                  <a:lnTo>
                    <a:pt x="127403" y="35119"/>
                  </a:lnTo>
                  <a:lnTo>
                    <a:pt x="167477" y="16093"/>
                  </a:lnTo>
                  <a:lnTo>
                    <a:pt x="210996" y="4144"/>
                  </a:lnTo>
                  <a:lnTo>
                    <a:pt x="257234" y="0"/>
                  </a:lnTo>
                  <a:lnTo>
                    <a:pt x="307653" y="4988"/>
                  </a:lnTo>
                  <a:lnTo>
                    <a:pt x="355674" y="19580"/>
                  </a:lnTo>
                  <a:lnTo>
                    <a:pt x="399948" y="43218"/>
                  </a:lnTo>
                  <a:lnTo>
                    <a:pt x="439126" y="75341"/>
                  </a:lnTo>
                  <a:lnTo>
                    <a:pt x="471250" y="114520"/>
                  </a:lnTo>
                  <a:lnTo>
                    <a:pt x="494888" y="158794"/>
                  </a:lnTo>
                  <a:lnTo>
                    <a:pt x="509481" y="206815"/>
                  </a:lnTo>
                  <a:lnTo>
                    <a:pt x="514469" y="257234"/>
                  </a:lnTo>
                  <a:lnTo>
                    <a:pt x="510325" y="303472"/>
                  </a:lnTo>
                  <a:lnTo>
                    <a:pt x="498376" y="346991"/>
                  </a:lnTo>
                  <a:lnTo>
                    <a:pt x="479349" y="387065"/>
                  </a:lnTo>
                  <a:lnTo>
                    <a:pt x="453971" y="422967"/>
                  </a:lnTo>
                  <a:lnTo>
                    <a:pt x="422967" y="453970"/>
                  </a:lnTo>
                  <a:lnTo>
                    <a:pt x="387066" y="479348"/>
                  </a:lnTo>
                  <a:lnTo>
                    <a:pt x="346992" y="498375"/>
                  </a:lnTo>
                  <a:lnTo>
                    <a:pt x="303472" y="510324"/>
                  </a:lnTo>
                  <a:lnTo>
                    <a:pt x="257234" y="514468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29060" y="4345781"/>
              <a:ext cx="231457" cy="30098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574915" y="4899619"/>
            <a:ext cx="486283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65" dirty="0">
                <a:solidFill>
                  <a:srgbClr val="66534E"/>
                </a:solidFill>
                <a:latin typeface="Calibri"/>
                <a:cs typeface="Calibri"/>
              </a:rPr>
              <a:t>Analytics</a:t>
            </a:r>
            <a:r>
              <a:rPr sz="1900" spc="13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900" spc="40" dirty="0">
                <a:solidFill>
                  <a:srgbClr val="66534E"/>
                </a:solidFill>
                <a:latin typeface="Calibri"/>
                <a:cs typeface="Calibri"/>
              </a:rPr>
              <a:t>Display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350" spc="175" dirty="0">
                <a:solidFill>
                  <a:srgbClr val="66534E"/>
                </a:solidFill>
                <a:latin typeface="Calibri"/>
                <a:cs typeface="Calibri"/>
              </a:rPr>
              <a:t>Show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95" dirty="0">
                <a:solidFill>
                  <a:srgbClr val="66534E"/>
                </a:solidFill>
                <a:latin typeface="Calibri"/>
                <a:cs typeface="Calibri"/>
              </a:rPr>
              <a:t>centrality</a:t>
            </a:r>
            <a:r>
              <a:rPr sz="13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30" dirty="0">
                <a:solidFill>
                  <a:srgbClr val="66534E"/>
                </a:solidFill>
                <a:latin typeface="Calibri"/>
                <a:cs typeface="Calibri"/>
              </a:rPr>
              <a:t>charts</a:t>
            </a:r>
            <a:r>
              <a:rPr sz="13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75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3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70" dirty="0">
                <a:solidFill>
                  <a:srgbClr val="66534E"/>
                </a:solidFill>
                <a:latin typeface="Calibri"/>
                <a:cs typeface="Calibri"/>
              </a:rPr>
              <a:t>community</a:t>
            </a:r>
            <a:r>
              <a:rPr sz="13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30" dirty="0">
                <a:solidFill>
                  <a:srgbClr val="66534E"/>
                </a:solidFill>
                <a:latin typeface="Calibri"/>
                <a:cs typeface="Calibri"/>
              </a:rPr>
              <a:t>detection</a:t>
            </a:r>
            <a:r>
              <a:rPr sz="13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75" dirty="0">
                <a:solidFill>
                  <a:srgbClr val="66534E"/>
                </a:solidFill>
                <a:latin typeface="Calibri"/>
                <a:cs typeface="Calibri"/>
              </a:rPr>
              <a:t>results.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2700" y="5921938"/>
            <a:ext cx="6644640" cy="1721485"/>
            <a:chOff x="592700" y="5921938"/>
            <a:chExt cx="6644640" cy="1721485"/>
          </a:xfrm>
        </p:grpSpPr>
        <p:sp>
          <p:nvSpPr>
            <p:cNvPr id="18" name="object 18"/>
            <p:cNvSpPr/>
            <p:nvPr/>
          </p:nvSpPr>
          <p:spPr>
            <a:xfrm>
              <a:off x="600312" y="5929551"/>
              <a:ext cx="6629400" cy="1706245"/>
            </a:xfrm>
            <a:custGeom>
              <a:avLst/>
              <a:gdLst/>
              <a:ahLst/>
              <a:cxnLst/>
              <a:rect l="l" t="t" r="r" b="b"/>
              <a:pathLst>
                <a:path w="6629400" h="1706245">
                  <a:moveTo>
                    <a:pt x="6557113" y="1705688"/>
                  </a:moveTo>
                  <a:lnTo>
                    <a:pt x="72048" y="1705688"/>
                  </a:lnTo>
                  <a:lnTo>
                    <a:pt x="44003" y="1700026"/>
                  </a:lnTo>
                  <a:lnTo>
                    <a:pt x="21102" y="1684586"/>
                  </a:lnTo>
                  <a:lnTo>
                    <a:pt x="5661" y="1661684"/>
                  </a:lnTo>
                  <a:lnTo>
                    <a:pt x="0" y="1633640"/>
                  </a:lnTo>
                  <a:lnTo>
                    <a:pt x="0" y="72047"/>
                  </a:lnTo>
                  <a:lnTo>
                    <a:pt x="5661" y="44003"/>
                  </a:lnTo>
                  <a:lnTo>
                    <a:pt x="21102" y="21102"/>
                  </a:lnTo>
                  <a:lnTo>
                    <a:pt x="44003" y="5661"/>
                  </a:lnTo>
                  <a:lnTo>
                    <a:pt x="72048" y="0"/>
                  </a:lnTo>
                  <a:lnTo>
                    <a:pt x="6557113" y="0"/>
                  </a:lnTo>
                  <a:lnTo>
                    <a:pt x="6597086" y="12104"/>
                  </a:lnTo>
                  <a:lnTo>
                    <a:pt x="6623677" y="44476"/>
                  </a:lnTo>
                  <a:lnTo>
                    <a:pt x="6629161" y="72047"/>
                  </a:lnTo>
                  <a:lnTo>
                    <a:pt x="6629161" y="1633640"/>
                  </a:lnTo>
                  <a:lnTo>
                    <a:pt x="6623500" y="1661684"/>
                  </a:lnTo>
                  <a:lnTo>
                    <a:pt x="6608059" y="1684586"/>
                  </a:lnTo>
                  <a:lnTo>
                    <a:pt x="6585158" y="1700026"/>
                  </a:lnTo>
                  <a:lnTo>
                    <a:pt x="6557113" y="1705688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0312" y="5929551"/>
              <a:ext cx="6629400" cy="1706245"/>
            </a:xfrm>
            <a:custGeom>
              <a:avLst/>
              <a:gdLst/>
              <a:ahLst/>
              <a:cxnLst/>
              <a:rect l="l" t="t" r="r" b="b"/>
              <a:pathLst>
                <a:path w="6629400" h="1706245">
                  <a:moveTo>
                    <a:pt x="0" y="72047"/>
                  </a:moveTo>
                  <a:lnTo>
                    <a:pt x="5661" y="44003"/>
                  </a:lnTo>
                  <a:lnTo>
                    <a:pt x="21102" y="21102"/>
                  </a:lnTo>
                  <a:lnTo>
                    <a:pt x="44003" y="5661"/>
                  </a:lnTo>
                  <a:lnTo>
                    <a:pt x="72048" y="0"/>
                  </a:lnTo>
                  <a:lnTo>
                    <a:pt x="6557113" y="0"/>
                  </a:lnTo>
                  <a:lnTo>
                    <a:pt x="6597086" y="12104"/>
                  </a:lnTo>
                  <a:lnTo>
                    <a:pt x="6623677" y="44476"/>
                  </a:lnTo>
                  <a:lnTo>
                    <a:pt x="6629161" y="72047"/>
                  </a:lnTo>
                  <a:lnTo>
                    <a:pt x="6629161" y="1633640"/>
                  </a:lnTo>
                  <a:lnTo>
                    <a:pt x="6623500" y="1661684"/>
                  </a:lnTo>
                  <a:lnTo>
                    <a:pt x="6608059" y="1684586"/>
                  </a:lnTo>
                  <a:lnTo>
                    <a:pt x="6585158" y="1700026"/>
                  </a:lnTo>
                  <a:lnTo>
                    <a:pt x="6557113" y="1705688"/>
                  </a:lnTo>
                  <a:lnTo>
                    <a:pt x="72048" y="1705688"/>
                  </a:lnTo>
                  <a:lnTo>
                    <a:pt x="44003" y="1700026"/>
                  </a:lnTo>
                  <a:lnTo>
                    <a:pt x="21102" y="1684586"/>
                  </a:lnTo>
                  <a:lnTo>
                    <a:pt x="5661" y="1661684"/>
                  </a:lnTo>
                  <a:lnTo>
                    <a:pt x="0" y="1633640"/>
                  </a:lnTo>
                  <a:lnTo>
                    <a:pt x="0" y="72047"/>
                  </a:lnTo>
                  <a:close/>
                </a:path>
              </a:pathLst>
            </a:custGeom>
            <a:ln w="152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7002" y="6116241"/>
              <a:ext cx="514984" cy="514984"/>
            </a:xfrm>
            <a:custGeom>
              <a:avLst/>
              <a:gdLst/>
              <a:ahLst/>
              <a:cxnLst/>
              <a:rect l="l" t="t" r="r" b="b"/>
              <a:pathLst>
                <a:path w="514984" h="514984">
                  <a:moveTo>
                    <a:pt x="257234" y="514469"/>
                  </a:moveTo>
                  <a:lnTo>
                    <a:pt x="210996" y="510324"/>
                  </a:lnTo>
                  <a:lnTo>
                    <a:pt x="167477" y="498375"/>
                  </a:lnTo>
                  <a:lnTo>
                    <a:pt x="127403" y="479349"/>
                  </a:lnTo>
                  <a:lnTo>
                    <a:pt x="91501" y="453970"/>
                  </a:lnTo>
                  <a:lnTo>
                    <a:pt x="60498" y="422967"/>
                  </a:lnTo>
                  <a:lnTo>
                    <a:pt x="35120" y="387065"/>
                  </a:lnTo>
                  <a:lnTo>
                    <a:pt x="16093" y="346992"/>
                  </a:lnTo>
                  <a:lnTo>
                    <a:pt x="4144" y="303472"/>
                  </a:lnTo>
                  <a:lnTo>
                    <a:pt x="0" y="257234"/>
                  </a:lnTo>
                  <a:lnTo>
                    <a:pt x="4144" y="210996"/>
                  </a:lnTo>
                  <a:lnTo>
                    <a:pt x="16093" y="167477"/>
                  </a:lnTo>
                  <a:lnTo>
                    <a:pt x="35120" y="127403"/>
                  </a:lnTo>
                  <a:lnTo>
                    <a:pt x="60498" y="91501"/>
                  </a:lnTo>
                  <a:lnTo>
                    <a:pt x="91501" y="60498"/>
                  </a:lnTo>
                  <a:lnTo>
                    <a:pt x="127403" y="35120"/>
                  </a:lnTo>
                  <a:lnTo>
                    <a:pt x="167477" y="16093"/>
                  </a:lnTo>
                  <a:lnTo>
                    <a:pt x="210996" y="4144"/>
                  </a:lnTo>
                  <a:lnTo>
                    <a:pt x="257234" y="0"/>
                  </a:lnTo>
                  <a:lnTo>
                    <a:pt x="307652" y="4988"/>
                  </a:lnTo>
                  <a:lnTo>
                    <a:pt x="355673" y="19580"/>
                  </a:lnTo>
                  <a:lnTo>
                    <a:pt x="399948" y="43218"/>
                  </a:lnTo>
                  <a:lnTo>
                    <a:pt x="439126" y="75342"/>
                  </a:lnTo>
                  <a:lnTo>
                    <a:pt x="471250" y="114520"/>
                  </a:lnTo>
                  <a:lnTo>
                    <a:pt x="494888" y="158795"/>
                  </a:lnTo>
                  <a:lnTo>
                    <a:pt x="509480" y="206816"/>
                  </a:lnTo>
                  <a:lnTo>
                    <a:pt x="514468" y="257234"/>
                  </a:lnTo>
                  <a:lnTo>
                    <a:pt x="510324" y="303472"/>
                  </a:lnTo>
                  <a:lnTo>
                    <a:pt x="498375" y="346992"/>
                  </a:lnTo>
                  <a:lnTo>
                    <a:pt x="479348" y="387065"/>
                  </a:lnTo>
                  <a:lnTo>
                    <a:pt x="453970" y="422967"/>
                  </a:lnTo>
                  <a:lnTo>
                    <a:pt x="422967" y="453970"/>
                  </a:lnTo>
                  <a:lnTo>
                    <a:pt x="387065" y="479349"/>
                  </a:lnTo>
                  <a:lnTo>
                    <a:pt x="346991" y="498375"/>
                  </a:lnTo>
                  <a:lnTo>
                    <a:pt x="303472" y="510324"/>
                  </a:lnTo>
                  <a:lnTo>
                    <a:pt x="257234" y="514469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8449" y="6222921"/>
              <a:ext cx="231457" cy="30098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74302" y="6776759"/>
            <a:ext cx="5841365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20" dirty="0">
                <a:solidFill>
                  <a:srgbClr val="66534E"/>
                </a:solidFill>
                <a:latin typeface="Calibri"/>
                <a:cs typeface="Calibri"/>
              </a:rPr>
              <a:t>QA</a:t>
            </a:r>
            <a:r>
              <a:rPr sz="1900" spc="13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900" spc="55" dirty="0">
                <a:solidFill>
                  <a:srgbClr val="66534E"/>
                </a:solidFill>
                <a:latin typeface="Calibri"/>
                <a:cs typeface="Calibri"/>
              </a:rPr>
              <a:t>Interface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350" spc="120" dirty="0">
                <a:solidFill>
                  <a:srgbClr val="66534E"/>
                </a:solidFill>
                <a:latin typeface="Calibri"/>
                <a:cs typeface="Calibri"/>
              </a:rPr>
              <a:t>Provide</a:t>
            </a:r>
            <a:r>
              <a:rPr sz="13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95" dirty="0">
                <a:solidFill>
                  <a:srgbClr val="66534E"/>
                </a:solidFill>
                <a:latin typeface="Calibri"/>
                <a:cs typeface="Calibri"/>
              </a:rPr>
              <a:t>text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40" dirty="0">
                <a:solidFill>
                  <a:srgbClr val="66534E"/>
                </a:solidFill>
                <a:latin typeface="Calibri"/>
                <a:cs typeface="Calibri"/>
              </a:rPr>
              <a:t>input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3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35" dirty="0">
                <a:solidFill>
                  <a:srgbClr val="66534E"/>
                </a:solidFill>
                <a:latin typeface="Calibri"/>
                <a:cs typeface="Calibri"/>
              </a:rPr>
              <a:t>questions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75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20" dirty="0">
                <a:solidFill>
                  <a:srgbClr val="66534E"/>
                </a:solidFill>
                <a:latin typeface="Calibri"/>
                <a:cs typeface="Calibri"/>
              </a:rPr>
              <a:t>display</a:t>
            </a:r>
            <a:r>
              <a:rPr sz="13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55" dirty="0">
                <a:solidFill>
                  <a:srgbClr val="66534E"/>
                </a:solidFill>
                <a:latin typeface="Calibri"/>
                <a:cs typeface="Calibri"/>
              </a:rPr>
              <a:t>semantic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30" dirty="0">
                <a:solidFill>
                  <a:srgbClr val="66534E"/>
                </a:solidFill>
                <a:latin typeface="Calibri"/>
                <a:cs typeface="Calibri"/>
              </a:rPr>
              <a:t>search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75" dirty="0">
                <a:solidFill>
                  <a:srgbClr val="66534E"/>
                </a:solidFill>
                <a:latin typeface="Calibri"/>
                <a:cs typeface="Calibri"/>
              </a:rPr>
              <a:t>results.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393312" y="5921938"/>
            <a:ext cx="6644640" cy="1721485"/>
            <a:chOff x="7393312" y="5921938"/>
            <a:chExt cx="6644640" cy="1721485"/>
          </a:xfrm>
        </p:grpSpPr>
        <p:sp>
          <p:nvSpPr>
            <p:cNvPr id="24" name="object 24"/>
            <p:cNvSpPr/>
            <p:nvPr/>
          </p:nvSpPr>
          <p:spPr>
            <a:xfrm>
              <a:off x="7400924" y="5929551"/>
              <a:ext cx="6629400" cy="1706245"/>
            </a:xfrm>
            <a:custGeom>
              <a:avLst/>
              <a:gdLst/>
              <a:ahLst/>
              <a:cxnLst/>
              <a:rect l="l" t="t" r="r" b="b"/>
              <a:pathLst>
                <a:path w="6629400" h="1706245">
                  <a:moveTo>
                    <a:pt x="6557113" y="1705688"/>
                  </a:moveTo>
                  <a:lnTo>
                    <a:pt x="72048" y="1705688"/>
                  </a:lnTo>
                  <a:lnTo>
                    <a:pt x="44003" y="1700026"/>
                  </a:lnTo>
                  <a:lnTo>
                    <a:pt x="21102" y="1684586"/>
                  </a:lnTo>
                  <a:lnTo>
                    <a:pt x="5661" y="1661684"/>
                  </a:lnTo>
                  <a:lnTo>
                    <a:pt x="0" y="1633640"/>
                  </a:lnTo>
                  <a:lnTo>
                    <a:pt x="0" y="72047"/>
                  </a:lnTo>
                  <a:lnTo>
                    <a:pt x="5661" y="44003"/>
                  </a:lnTo>
                  <a:lnTo>
                    <a:pt x="21102" y="21102"/>
                  </a:lnTo>
                  <a:lnTo>
                    <a:pt x="44003" y="5661"/>
                  </a:lnTo>
                  <a:lnTo>
                    <a:pt x="72048" y="0"/>
                  </a:lnTo>
                  <a:lnTo>
                    <a:pt x="6557113" y="0"/>
                  </a:lnTo>
                  <a:lnTo>
                    <a:pt x="6597086" y="12104"/>
                  </a:lnTo>
                  <a:lnTo>
                    <a:pt x="6623678" y="44476"/>
                  </a:lnTo>
                  <a:lnTo>
                    <a:pt x="6629162" y="72047"/>
                  </a:lnTo>
                  <a:lnTo>
                    <a:pt x="6629162" y="1633640"/>
                  </a:lnTo>
                  <a:lnTo>
                    <a:pt x="6623500" y="1661684"/>
                  </a:lnTo>
                  <a:lnTo>
                    <a:pt x="6608059" y="1684586"/>
                  </a:lnTo>
                  <a:lnTo>
                    <a:pt x="6585158" y="1700026"/>
                  </a:lnTo>
                  <a:lnTo>
                    <a:pt x="6557113" y="1705688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00924" y="5929551"/>
              <a:ext cx="6629400" cy="1706245"/>
            </a:xfrm>
            <a:custGeom>
              <a:avLst/>
              <a:gdLst/>
              <a:ahLst/>
              <a:cxnLst/>
              <a:rect l="l" t="t" r="r" b="b"/>
              <a:pathLst>
                <a:path w="6629400" h="1706245">
                  <a:moveTo>
                    <a:pt x="0" y="72047"/>
                  </a:moveTo>
                  <a:lnTo>
                    <a:pt x="5661" y="44003"/>
                  </a:lnTo>
                  <a:lnTo>
                    <a:pt x="21102" y="21102"/>
                  </a:lnTo>
                  <a:lnTo>
                    <a:pt x="44003" y="5661"/>
                  </a:lnTo>
                  <a:lnTo>
                    <a:pt x="72048" y="0"/>
                  </a:lnTo>
                  <a:lnTo>
                    <a:pt x="6557113" y="0"/>
                  </a:lnTo>
                  <a:lnTo>
                    <a:pt x="6597086" y="12104"/>
                  </a:lnTo>
                  <a:lnTo>
                    <a:pt x="6623678" y="44476"/>
                  </a:lnTo>
                  <a:lnTo>
                    <a:pt x="6629162" y="72047"/>
                  </a:lnTo>
                  <a:lnTo>
                    <a:pt x="6629162" y="1633640"/>
                  </a:lnTo>
                  <a:lnTo>
                    <a:pt x="6623500" y="1661684"/>
                  </a:lnTo>
                  <a:lnTo>
                    <a:pt x="6608059" y="1684586"/>
                  </a:lnTo>
                  <a:lnTo>
                    <a:pt x="6585158" y="1700026"/>
                  </a:lnTo>
                  <a:lnTo>
                    <a:pt x="6557113" y="1705688"/>
                  </a:lnTo>
                  <a:lnTo>
                    <a:pt x="72048" y="1705688"/>
                  </a:lnTo>
                  <a:lnTo>
                    <a:pt x="44003" y="1700026"/>
                  </a:lnTo>
                  <a:lnTo>
                    <a:pt x="21102" y="1684586"/>
                  </a:lnTo>
                  <a:lnTo>
                    <a:pt x="5661" y="1661684"/>
                  </a:lnTo>
                  <a:lnTo>
                    <a:pt x="0" y="1633640"/>
                  </a:lnTo>
                  <a:lnTo>
                    <a:pt x="0" y="72047"/>
                  </a:lnTo>
                  <a:close/>
                </a:path>
              </a:pathLst>
            </a:custGeom>
            <a:ln w="152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87614" y="6116241"/>
              <a:ext cx="514984" cy="514984"/>
            </a:xfrm>
            <a:custGeom>
              <a:avLst/>
              <a:gdLst/>
              <a:ahLst/>
              <a:cxnLst/>
              <a:rect l="l" t="t" r="r" b="b"/>
              <a:pathLst>
                <a:path w="514984" h="514984">
                  <a:moveTo>
                    <a:pt x="257234" y="514469"/>
                  </a:moveTo>
                  <a:lnTo>
                    <a:pt x="210996" y="510324"/>
                  </a:lnTo>
                  <a:lnTo>
                    <a:pt x="167477" y="498375"/>
                  </a:lnTo>
                  <a:lnTo>
                    <a:pt x="127403" y="479349"/>
                  </a:lnTo>
                  <a:lnTo>
                    <a:pt x="91501" y="453970"/>
                  </a:lnTo>
                  <a:lnTo>
                    <a:pt x="60498" y="422967"/>
                  </a:lnTo>
                  <a:lnTo>
                    <a:pt x="35120" y="387065"/>
                  </a:lnTo>
                  <a:lnTo>
                    <a:pt x="16093" y="346992"/>
                  </a:lnTo>
                  <a:lnTo>
                    <a:pt x="4144" y="303472"/>
                  </a:lnTo>
                  <a:lnTo>
                    <a:pt x="0" y="257234"/>
                  </a:lnTo>
                  <a:lnTo>
                    <a:pt x="4144" y="210996"/>
                  </a:lnTo>
                  <a:lnTo>
                    <a:pt x="16093" y="167477"/>
                  </a:lnTo>
                  <a:lnTo>
                    <a:pt x="35120" y="127403"/>
                  </a:lnTo>
                  <a:lnTo>
                    <a:pt x="60498" y="91501"/>
                  </a:lnTo>
                  <a:lnTo>
                    <a:pt x="91501" y="60498"/>
                  </a:lnTo>
                  <a:lnTo>
                    <a:pt x="127403" y="35120"/>
                  </a:lnTo>
                  <a:lnTo>
                    <a:pt x="167477" y="16093"/>
                  </a:lnTo>
                  <a:lnTo>
                    <a:pt x="210996" y="4144"/>
                  </a:lnTo>
                  <a:lnTo>
                    <a:pt x="257234" y="0"/>
                  </a:lnTo>
                  <a:lnTo>
                    <a:pt x="307653" y="4988"/>
                  </a:lnTo>
                  <a:lnTo>
                    <a:pt x="355674" y="19580"/>
                  </a:lnTo>
                  <a:lnTo>
                    <a:pt x="399948" y="43218"/>
                  </a:lnTo>
                  <a:lnTo>
                    <a:pt x="439126" y="75342"/>
                  </a:lnTo>
                  <a:lnTo>
                    <a:pt x="471250" y="114520"/>
                  </a:lnTo>
                  <a:lnTo>
                    <a:pt x="494888" y="158795"/>
                  </a:lnTo>
                  <a:lnTo>
                    <a:pt x="509481" y="206816"/>
                  </a:lnTo>
                  <a:lnTo>
                    <a:pt x="514469" y="257234"/>
                  </a:lnTo>
                  <a:lnTo>
                    <a:pt x="510325" y="303472"/>
                  </a:lnTo>
                  <a:lnTo>
                    <a:pt x="498376" y="346992"/>
                  </a:lnTo>
                  <a:lnTo>
                    <a:pt x="479349" y="387065"/>
                  </a:lnTo>
                  <a:lnTo>
                    <a:pt x="453971" y="422967"/>
                  </a:lnTo>
                  <a:lnTo>
                    <a:pt x="422967" y="453970"/>
                  </a:lnTo>
                  <a:lnTo>
                    <a:pt x="387066" y="479349"/>
                  </a:lnTo>
                  <a:lnTo>
                    <a:pt x="346992" y="498375"/>
                  </a:lnTo>
                  <a:lnTo>
                    <a:pt x="303472" y="510324"/>
                  </a:lnTo>
                  <a:lnTo>
                    <a:pt x="257234" y="514469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29060" y="6222921"/>
              <a:ext cx="231457" cy="30098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574915" y="6776759"/>
            <a:ext cx="626110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1900" spc="15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900" spc="45" dirty="0">
                <a:solidFill>
                  <a:srgbClr val="66534E"/>
                </a:solidFill>
                <a:latin typeface="Calibri"/>
                <a:cs typeface="Calibri"/>
              </a:rPr>
              <a:t>Visualization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350" spc="220" dirty="0">
                <a:solidFill>
                  <a:srgbClr val="66534E"/>
                </a:solidFill>
                <a:latin typeface="Calibri"/>
                <a:cs typeface="Calibri"/>
              </a:rPr>
              <a:t>Embed</a:t>
            </a:r>
            <a:r>
              <a:rPr sz="13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00" dirty="0">
                <a:solidFill>
                  <a:srgbClr val="66534E"/>
                </a:solidFill>
                <a:latin typeface="Calibri"/>
                <a:cs typeface="Calibri"/>
              </a:rPr>
              <a:t>interactive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60" dirty="0">
                <a:solidFill>
                  <a:srgbClr val="66534E"/>
                </a:solidFill>
                <a:latin typeface="Calibri"/>
                <a:cs typeface="Calibri"/>
              </a:rPr>
              <a:t>subgraphs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75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35" dirty="0">
                <a:solidFill>
                  <a:srgbClr val="66534E"/>
                </a:solidFill>
                <a:latin typeface="Calibri"/>
                <a:cs typeface="Calibri"/>
              </a:rPr>
              <a:t>category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05" dirty="0">
                <a:solidFill>
                  <a:srgbClr val="66534E"/>
                </a:solidFill>
                <a:latin typeface="Calibri"/>
                <a:cs typeface="Calibri"/>
              </a:rPr>
              <a:t>color</a:t>
            </a:r>
            <a:r>
              <a:rPr sz="135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155" dirty="0">
                <a:solidFill>
                  <a:srgbClr val="66534E"/>
                </a:solidFill>
                <a:latin typeface="Calibri"/>
                <a:cs typeface="Calibri"/>
              </a:rPr>
              <a:t>legends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66534E"/>
                </a:solidFill>
                <a:latin typeface="Calibri"/>
                <a:cs typeface="Calibri"/>
              </a:rPr>
              <a:t>for</a:t>
            </a:r>
            <a:r>
              <a:rPr sz="13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350" spc="85" dirty="0">
                <a:solidFill>
                  <a:srgbClr val="66534E"/>
                </a:solidFill>
                <a:latin typeface="Calibri"/>
                <a:cs typeface="Calibri"/>
              </a:rPr>
              <a:t>exploration.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1AA145-7698-5B42-7460-DF8CEDF1AA1A}"/>
              </a:ext>
            </a:extLst>
          </p:cNvPr>
          <p:cNvSpPr txBox="1"/>
          <p:nvPr/>
        </p:nvSpPr>
        <p:spPr>
          <a:xfrm>
            <a:off x="12725400" y="7748673"/>
            <a:ext cx="1828798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79" y="0"/>
            <a:ext cx="576071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089" y="452000"/>
            <a:ext cx="7085330" cy="2044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900"/>
              </a:lnSpc>
              <a:spcBef>
                <a:spcPts val="100"/>
              </a:spcBef>
            </a:pPr>
            <a:r>
              <a:rPr sz="5100" spc="315" dirty="0"/>
              <a:t>Output</a:t>
            </a:r>
            <a:r>
              <a:rPr sz="5100" spc="400" dirty="0"/>
              <a:t> </a:t>
            </a:r>
            <a:r>
              <a:rPr sz="5100" spc="65" dirty="0"/>
              <a:t>Analysis:</a:t>
            </a:r>
            <a:r>
              <a:rPr sz="5100" spc="400" dirty="0"/>
              <a:t> </a:t>
            </a:r>
            <a:r>
              <a:rPr sz="5100" spc="105" dirty="0"/>
              <a:t>Insights </a:t>
            </a:r>
            <a:r>
              <a:rPr sz="5100" spc="415" dirty="0"/>
              <a:t>&amp;</a:t>
            </a:r>
            <a:r>
              <a:rPr sz="5100" spc="380" dirty="0"/>
              <a:t> </a:t>
            </a:r>
            <a:r>
              <a:rPr sz="5100" spc="75" dirty="0"/>
              <a:t>Best</a:t>
            </a:r>
            <a:r>
              <a:rPr sz="5100" spc="380" dirty="0"/>
              <a:t> </a:t>
            </a:r>
            <a:r>
              <a:rPr sz="5100" spc="140" dirty="0"/>
              <a:t>Practices</a:t>
            </a:r>
            <a:endParaRPr sz="5100"/>
          </a:p>
        </p:txBody>
      </p:sp>
      <p:sp>
        <p:nvSpPr>
          <p:cNvPr id="4" name="object 4"/>
          <p:cNvSpPr txBox="1"/>
          <p:nvPr/>
        </p:nvSpPr>
        <p:spPr>
          <a:xfrm>
            <a:off x="781089" y="2650173"/>
            <a:ext cx="6751320" cy="1082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</a:pPr>
            <a:r>
              <a:rPr sz="1750" spc="185" dirty="0">
                <a:solidFill>
                  <a:srgbClr val="66534E"/>
                </a:solidFill>
                <a:latin typeface="Calibri"/>
                <a:cs typeface="Calibri"/>
              </a:rPr>
              <a:t>The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29" dirty="0">
                <a:solidFill>
                  <a:srgbClr val="66534E"/>
                </a:solidFill>
                <a:latin typeface="Calibri"/>
                <a:cs typeface="Calibri"/>
              </a:rPr>
              <a:t>app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35" dirty="0">
                <a:solidFill>
                  <a:srgbClr val="66534E"/>
                </a:solidFill>
                <a:latin typeface="Calibri"/>
                <a:cs typeface="Calibri"/>
              </a:rPr>
              <a:t>delivers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35" dirty="0">
                <a:solidFill>
                  <a:srgbClr val="66534E"/>
                </a:solidFill>
                <a:latin typeface="Calibri"/>
                <a:cs typeface="Calibri"/>
              </a:rPr>
              <a:t>interactive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10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40" dirty="0">
                <a:solidFill>
                  <a:srgbClr val="66534E"/>
                </a:solidFill>
                <a:latin typeface="Calibri"/>
                <a:cs typeface="Calibri"/>
              </a:rPr>
              <a:t>exploration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29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90" dirty="0">
                <a:solidFill>
                  <a:srgbClr val="66534E"/>
                </a:solidFill>
                <a:latin typeface="Calibri"/>
                <a:cs typeface="Calibri"/>
              </a:rPr>
              <a:t>semantic </a:t>
            </a:r>
            <a:r>
              <a:rPr sz="1750" spc="145" dirty="0">
                <a:solidFill>
                  <a:srgbClr val="66534E"/>
                </a:solidFill>
                <a:latin typeface="Calibri"/>
                <a:cs typeface="Calibri"/>
              </a:rPr>
              <a:t>insights.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00" dirty="0">
                <a:solidFill>
                  <a:srgbClr val="66534E"/>
                </a:solidFill>
                <a:latin typeface="Calibri"/>
                <a:cs typeface="Calibri"/>
              </a:rPr>
              <a:t>Key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70" dirty="0">
                <a:solidFill>
                  <a:srgbClr val="66534E"/>
                </a:solidFill>
                <a:latin typeface="Calibri"/>
                <a:cs typeface="Calibri"/>
              </a:rPr>
              <a:t>outcomes: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35" dirty="0">
                <a:solidFill>
                  <a:srgbClr val="66534E"/>
                </a:solidFill>
                <a:latin typeface="Calibri"/>
                <a:cs typeface="Calibri"/>
              </a:rPr>
              <a:t>Identify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65" dirty="0">
                <a:solidFill>
                  <a:srgbClr val="66534E"/>
                </a:solidFill>
                <a:latin typeface="Calibri"/>
                <a:cs typeface="Calibri"/>
              </a:rPr>
              <a:t>hubs,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75" dirty="0">
                <a:solidFill>
                  <a:srgbClr val="66534E"/>
                </a:solidFill>
                <a:latin typeface="Calibri"/>
                <a:cs typeface="Calibri"/>
              </a:rPr>
              <a:t>uncover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75" dirty="0">
                <a:solidFill>
                  <a:srgbClr val="66534E"/>
                </a:solidFill>
                <a:latin typeface="Calibri"/>
                <a:cs typeface="Calibri"/>
              </a:rPr>
              <a:t>communities, </a:t>
            </a:r>
            <a:r>
              <a:rPr sz="1750" spc="180" dirty="0">
                <a:solidFill>
                  <a:srgbClr val="66534E"/>
                </a:solidFill>
                <a:latin typeface="Calibri"/>
                <a:cs typeface="Calibri"/>
              </a:rPr>
              <a:t>answer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30" dirty="0">
                <a:solidFill>
                  <a:srgbClr val="66534E"/>
                </a:solidFill>
                <a:latin typeface="Calibri"/>
                <a:cs typeface="Calibri"/>
              </a:rPr>
              <a:t>entity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60" dirty="0">
                <a:solidFill>
                  <a:srgbClr val="66534E"/>
                </a:solidFill>
                <a:latin typeface="Calibri"/>
                <a:cs typeface="Calibri"/>
              </a:rPr>
              <a:t>queries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95" dirty="0">
                <a:solidFill>
                  <a:srgbClr val="66534E"/>
                </a:solidFill>
                <a:latin typeface="Calibri"/>
                <a:cs typeface="Calibri"/>
              </a:rPr>
              <a:t>visually.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089" y="3607451"/>
            <a:ext cx="2341245" cy="3675379"/>
          </a:xfrm>
          <a:prstGeom prst="rect">
            <a:avLst/>
          </a:prstGeom>
        </p:spPr>
        <p:txBody>
          <a:bodyPr vert="horz" wrap="square" lIns="0" tIns="37782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2975"/>
              </a:spcBef>
            </a:pPr>
            <a:r>
              <a:rPr sz="5850" spc="220" dirty="0">
                <a:solidFill>
                  <a:srgbClr val="FF944E"/>
                </a:solidFill>
                <a:latin typeface="Calibri"/>
                <a:cs typeface="Calibri"/>
              </a:rPr>
              <a:t>10</a:t>
            </a:r>
            <a:endParaRPr sz="5850">
              <a:latin typeface="Calibri"/>
              <a:cs typeface="Calibri"/>
            </a:endParaRPr>
          </a:p>
          <a:p>
            <a:pPr marL="10795" algn="ctr">
              <a:lnSpc>
                <a:spcPct val="100000"/>
              </a:lnSpc>
              <a:spcBef>
                <a:spcPts val="1255"/>
              </a:spcBef>
            </a:pPr>
            <a:r>
              <a:rPr sz="2550" spc="120" dirty="0">
                <a:solidFill>
                  <a:srgbClr val="66534E"/>
                </a:solidFill>
                <a:latin typeface="Calibri"/>
                <a:cs typeface="Calibri"/>
              </a:rPr>
              <a:t>Top</a:t>
            </a:r>
            <a:r>
              <a:rPr sz="2550" spc="19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2550" spc="105" dirty="0">
                <a:solidFill>
                  <a:srgbClr val="66534E"/>
                </a:solidFill>
                <a:latin typeface="Calibri"/>
                <a:cs typeface="Calibri"/>
              </a:rPr>
              <a:t>Nodes</a:t>
            </a:r>
            <a:endParaRPr sz="2550">
              <a:latin typeface="Calibri"/>
              <a:cs typeface="Calibri"/>
            </a:endParaRPr>
          </a:p>
          <a:p>
            <a:pPr marL="12065" marR="5080" indent="9525" algn="ctr">
              <a:lnSpc>
                <a:spcPct val="132100"/>
              </a:lnSpc>
              <a:spcBef>
                <a:spcPts val="650"/>
              </a:spcBef>
            </a:pPr>
            <a:r>
              <a:rPr sz="1750" spc="130" dirty="0">
                <a:solidFill>
                  <a:srgbClr val="66534E"/>
                </a:solidFill>
                <a:latin typeface="Calibri"/>
                <a:cs typeface="Calibri"/>
              </a:rPr>
              <a:t>Centralities</a:t>
            </a:r>
            <a:r>
              <a:rPr sz="1750" spc="10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10" dirty="0">
                <a:solidFill>
                  <a:srgbClr val="66534E"/>
                </a:solidFill>
                <a:latin typeface="Calibri"/>
                <a:cs typeface="Calibri"/>
              </a:rPr>
              <a:t>reveal </a:t>
            </a:r>
            <a:r>
              <a:rPr sz="1750" spc="150" dirty="0">
                <a:solidFill>
                  <a:srgbClr val="66534E"/>
                </a:solidFill>
                <a:latin typeface="Calibri"/>
                <a:cs typeface="Calibri"/>
              </a:rPr>
              <a:t>inﬂuential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35" dirty="0">
                <a:solidFill>
                  <a:srgbClr val="66534E"/>
                </a:solidFill>
                <a:latin typeface="Calibri"/>
                <a:cs typeface="Calibri"/>
              </a:rPr>
              <a:t>entities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-25" dirty="0">
                <a:solidFill>
                  <a:srgbClr val="66534E"/>
                </a:solidFill>
                <a:latin typeface="Calibri"/>
                <a:cs typeface="Calibri"/>
              </a:rPr>
              <a:t>(e. 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g., </a:t>
            </a:r>
            <a:r>
              <a:rPr sz="1750" spc="210" dirty="0">
                <a:solidFill>
                  <a:srgbClr val="66534E"/>
                </a:solidFill>
                <a:latin typeface="Calibri"/>
                <a:cs typeface="Calibri"/>
              </a:rPr>
              <a:t>high</a:t>
            </a:r>
            <a:r>
              <a:rPr sz="1750" spc="50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80" dirty="0">
                <a:solidFill>
                  <a:srgbClr val="66534E"/>
                </a:solidFill>
                <a:latin typeface="Calibri"/>
                <a:cs typeface="Calibri"/>
              </a:rPr>
              <a:t>betweenness </a:t>
            </a:r>
            <a:r>
              <a:rPr sz="1750" spc="190" dirty="0">
                <a:solidFill>
                  <a:srgbClr val="66534E"/>
                </a:solidFill>
                <a:latin typeface="Calibri"/>
                <a:cs typeface="Calibri"/>
              </a:rPr>
              <a:t>bridges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55" dirty="0">
                <a:solidFill>
                  <a:srgbClr val="66534E"/>
                </a:solidFill>
                <a:latin typeface="Calibri"/>
                <a:cs typeface="Calibri"/>
              </a:rPr>
              <a:t>domains).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27742" y="3607451"/>
            <a:ext cx="2094230" cy="3322954"/>
          </a:xfrm>
          <a:prstGeom prst="rect">
            <a:avLst/>
          </a:prstGeom>
        </p:spPr>
        <p:txBody>
          <a:bodyPr vert="horz" wrap="square" lIns="0" tIns="3778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75"/>
              </a:spcBef>
            </a:pPr>
            <a:r>
              <a:rPr sz="5850" spc="-320" dirty="0">
                <a:solidFill>
                  <a:srgbClr val="FF944E"/>
                </a:solidFill>
                <a:latin typeface="Calibri"/>
                <a:cs typeface="Calibri"/>
              </a:rPr>
              <a:t>5</a:t>
            </a:r>
            <a:endParaRPr sz="5850">
              <a:latin typeface="Calibri"/>
              <a:cs typeface="Calibri"/>
            </a:endParaRPr>
          </a:p>
          <a:p>
            <a:pPr marR="2540" algn="ctr">
              <a:lnSpc>
                <a:spcPct val="100000"/>
              </a:lnSpc>
              <a:spcBef>
                <a:spcPts val="1255"/>
              </a:spcBef>
            </a:pPr>
            <a:r>
              <a:rPr sz="2550" spc="105" dirty="0">
                <a:solidFill>
                  <a:srgbClr val="66534E"/>
                </a:solidFill>
                <a:latin typeface="Calibri"/>
                <a:cs typeface="Calibri"/>
              </a:rPr>
              <a:t>Communities</a:t>
            </a:r>
            <a:endParaRPr sz="2550">
              <a:latin typeface="Calibri"/>
              <a:cs typeface="Calibri"/>
            </a:endParaRPr>
          </a:p>
          <a:p>
            <a:pPr marL="12700" marR="5080" algn="ctr">
              <a:lnSpc>
                <a:spcPct val="132100"/>
              </a:lnSpc>
              <a:spcBef>
                <a:spcPts val="650"/>
              </a:spcBef>
            </a:pPr>
            <a:r>
              <a:rPr sz="1750" spc="170" dirty="0">
                <a:solidFill>
                  <a:srgbClr val="66534E"/>
                </a:solidFill>
                <a:latin typeface="Calibri"/>
                <a:cs typeface="Calibri"/>
              </a:rPr>
              <a:t>Greedy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55" dirty="0">
                <a:solidFill>
                  <a:srgbClr val="66534E"/>
                </a:solidFill>
                <a:latin typeface="Calibri"/>
                <a:cs typeface="Calibri"/>
              </a:rPr>
              <a:t>modularity </a:t>
            </a:r>
            <a:r>
              <a:rPr sz="1750" spc="204" dirty="0">
                <a:solidFill>
                  <a:srgbClr val="66534E"/>
                </a:solidFill>
                <a:latin typeface="Calibri"/>
                <a:cs typeface="Calibri"/>
              </a:rPr>
              <a:t>groups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30" dirty="0">
                <a:solidFill>
                  <a:srgbClr val="66534E"/>
                </a:solidFill>
                <a:latin typeface="Calibri"/>
                <a:cs typeface="Calibri"/>
              </a:rPr>
              <a:t>related </a:t>
            </a:r>
            <a:r>
              <a:rPr sz="1750" spc="100" dirty="0">
                <a:solidFill>
                  <a:srgbClr val="66534E"/>
                </a:solidFill>
                <a:latin typeface="Calibri"/>
                <a:cs typeface="Calibri"/>
              </a:rPr>
              <a:t>triples;</a:t>
            </a:r>
            <a:r>
              <a:rPr sz="17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65" dirty="0">
                <a:solidFill>
                  <a:srgbClr val="66534E"/>
                </a:solidFill>
                <a:latin typeface="Calibri"/>
                <a:cs typeface="Calibri"/>
              </a:rPr>
              <a:t>aids</a:t>
            </a:r>
            <a:r>
              <a:rPr sz="175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40" dirty="0">
                <a:solidFill>
                  <a:srgbClr val="66534E"/>
                </a:solidFill>
                <a:latin typeface="Calibri"/>
                <a:cs typeface="Calibri"/>
              </a:rPr>
              <a:t>cross- </a:t>
            </a:r>
            <a:r>
              <a:rPr sz="1750" spc="225" dirty="0">
                <a:solidFill>
                  <a:srgbClr val="66534E"/>
                </a:solidFill>
                <a:latin typeface="Calibri"/>
                <a:cs typeface="Calibri"/>
              </a:rPr>
              <a:t>domain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40" dirty="0">
                <a:solidFill>
                  <a:srgbClr val="66534E"/>
                </a:solidFill>
                <a:latin typeface="Calibri"/>
                <a:cs typeface="Calibri"/>
              </a:rPr>
              <a:t>linking.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6744" y="3607451"/>
            <a:ext cx="2305685" cy="4098925"/>
          </a:xfrm>
          <a:prstGeom prst="rect">
            <a:avLst/>
          </a:prstGeom>
        </p:spPr>
        <p:txBody>
          <a:bodyPr vert="horz" wrap="square" lIns="0" tIns="3778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75"/>
              </a:spcBef>
            </a:pPr>
            <a:r>
              <a:rPr sz="5850" spc="320" dirty="0">
                <a:solidFill>
                  <a:srgbClr val="FF944E"/>
                </a:solidFill>
                <a:latin typeface="Calibri"/>
                <a:cs typeface="Calibri"/>
              </a:rPr>
              <a:t>0.85</a:t>
            </a:r>
            <a:endParaRPr sz="5850">
              <a:latin typeface="Calibri"/>
              <a:cs typeface="Calibri"/>
            </a:endParaRPr>
          </a:p>
          <a:p>
            <a:pPr marL="488950" marR="481965" algn="ctr">
              <a:lnSpc>
                <a:spcPct val="129900"/>
              </a:lnSpc>
              <a:spcBef>
                <a:spcPts val="340"/>
              </a:spcBef>
            </a:pPr>
            <a:r>
              <a:rPr sz="2550" spc="55" dirty="0">
                <a:solidFill>
                  <a:srgbClr val="66534E"/>
                </a:solidFill>
                <a:latin typeface="Calibri"/>
                <a:cs typeface="Calibri"/>
              </a:rPr>
              <a:t>Similarity </a:t>
            </a:r>
            <a:r>
              <a:rPr sz="2550" spc="60" dirty="0">
                <a:solidFill>
                  <a:srgbClr val="66534E"/>
                </a:solidFill>
                <a:latin typeface="Calibri"/>
                <a:cs typeface="Calibri"/>
              </a:rPr>
              <a:t>Scores</a:t>
            </a:r>
            <a:endParaRPr sz="25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750" spc="175" dirty="0">
                <a:solidFill>
                  <a:srgbClr val="66534E"/>
                </a:solidFill>
                <a:latin typeface="Calibri"/>
                <a:cs typeface="Calibri"/>
              </a:rPr>
              <a:t>Cosine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215" dirty="0">
                <a:solidFill>
                  <a:srgbClr val="66534E"/>
                </a:solidFill>
                <a:latin typeface="Calibri"/>
                <a:cs typeface="Calibri"/>
              </a:rPr>
              <a:t>matches</a:t>
            </a:r>
            <a:r>
              <a:rPr sz="175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70" dirty="0">
                <a:solidFill>
                  <a:srgbClr val="66534E"/>
                </a:solidFill>
                <a:latin typeface="Calibri"/>
                <a:cs typeface="Calibri"/>
              </a:rPr>
              <a:t>(e.g.</a:t>
            </a:r>
            <a:endParaRPr sz="1750">
              <a:latin typeface="Calibri"/>
              <a:cs typeface="Calibri"/>
            </a:endParaRPr>
          </a:p>
          <a:p>
            <a:pPr marL="40640" marR="22225" indent="9525" algn="ctr">
              <a:lnSpc>
                <a:spcPct val="132100"/>
              </a:lnSpc>
              <a:spcBef>
                <a:spcPts val="5"/>
              </a:spcBef>
            </a:pPr>
            <a:r>
              <a:rPr sz="1750" dirty="0">
                <a:solidFill>
                  <a:srgbClr val="66534E"/>
                </a:solidFill>
                <a:latin typeface="Calibri"/>
                <a:cs typeface="Calibri"/>
              </a:rPr>
              <a:t>,</a:t>
            </a:r>
            <a:r>
              <a:rPr sz="1750" spc="2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14" dirty="0">
                <a:solidFill>
                  <a:srgbClr val="66534E"/>
                </a:solidFill>
                <a:latin typeface="Calibri"/>
                <a:cs typeface="Calibri"/>
              </a:rPr>
              <a:t>&gt;0.8)</a:t>
            </a:r>
            <a:r>
              <a:rPr sz="1750" spc="3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65" dirty="0">
                <a:solidFill>
                  <a:srgbClr val="66534E"/>
                </a:solidFill>
                <a:latin typeface="Calibri"/>
                <a:cs typeface="Calibri"/>
              </a:rPr>
              <a:t>ensure </a:t>
            </a:r>
            <a:r>
              <a:rPr sz="1750" spc="135" dirty="0">
                <a:solidFill>
                  <a:srgbClr val="66534E"/>
                </a:solidFill>
                <a:latin typeface="Calibri"/>
                <a:cs typeface="Calibri"/>
              </a:rPr>
              <a:t>relevant</a:t>
            </a:r>
            <a:r>
              <a:rPr sz="175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35" dirty="0">
                <a:solidFill>
                  <a:srgbClr val="66534E"/>
                </a:solidFill>
                <a:latin typeface="Calibri"/>
                <a:cs typeface="Calibri"/>
              </a:rPr>
              <a:t>QA;</a:t>
            </a:r>
            <a:r>
              <a:rPr sz="1750" spc="8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50" dirty="0">
                <a:solidFill>
                  <a:srgbClr val="66534E"/>
                </a:solidFill>
                <a:latin typeface="Calibri"/>
                <a:cs typeface="Calibri"/>
              </a:rPr>
              <a:t>MiniLM </a:t>
            </a:r>
            <a:r>
              <a:rPr sz="1750" spc="220" dirty="0">
                <a:solidFill>
                  <a:srgbClr val="66534E"/>
                </a:solidFill>
                <a:latin typeface="Calibri"/>
                <a:cs typeface="Calibri"/>
              </a:rPr>
              <a:t>model</a:t>
            </a:r>
            <a:r>
              <a:rPr sz="175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750" spc="175" dirty="0">
                <a:solidFill>
                  <a:srgbClr val="66534E"/>
                </a:solidFill>
                <a:latin typeface="Calibri"/>
                <a:cs typeface="Calibri"/>
              </a:rPr>
              <a:t>balances </a:t>
            </a:r>
            <a:r>
              <a:rPr sz="1750" spc="130" dirty="0">
                <a:solidFill>
                  <a:srgbClr val="66534E"/>
                </a:solidFill>
                <a:latin typeface="Calibri"/>
                <a:cs typeface="Calibri"/>
              </a:rPr>
              <a:t>speed/accuracy.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69679" y="0"/>
            <a:ext cx="576071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50" spc="305" dirty="0">
                <a:solidFill>
                  <a:srgbClr val="000000"/>
                </a:solidFill>
                <a:latin typeface="Segoe UI Symbol"/>
                <a:cs typeface="Segoe UI Symbol"/>
              </a:rPr>
              <a:t>🎯</a:t>
            </a:r>
            <a:r>
              <a:rPr sz="5150" spc="-40" dirty="0">
                <a:solidFill>
                  <a:srgbClr val="000000"/>
                </a:solidFill>
                <a:latin typeface="Segoe UI Symbol"/>
                <a:cs typeface="Segoe UI Symbol"/>
              </a:rPr>
              <a:t> </a:t>
            </a:r>
            <a:r>
              <a:rPr spc="160" dirty="0"/>
              <a:t>Project</a:t>
            </a:r>
            <a:r>
              <a:rPr spc="340" dirty="0"/>
              <a:t> </a:t>
            </a:r>
            <a:r>
              <a:rPr spc="260" dirty="0"/>
              <a:t>Complete</a:t>
            </a:r>
            <a:endParaRPr sz="5150" dirty="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885" y="1597739"/>
            <a:ext cx="7366000" cy="6040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2555">
              <a:lnSpc>
                <a:spcPct val="133300"/>
              </a:lnSpc>
              <a:spcBef>
                <a:spcPts val="100"/>
              </a:spcBef>
            </a:pP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This</a:t>
            </a:r>
            <a:r>
              <a:rPr sz="1500" spc="5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project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55" dirty="0">
                <a:solidFill>
                  <a:srgbClr val="66534E"/>
                </a:solidFill>
                <a:latin typeface="Calibri"/>
                <a:cs typeface="Calibri"/>
              </a:rPr>
              <a:t>focused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80" dirty="0">
                <a:solidFill>
                  <a:srgbClr val="66534E"/>
                </a:solidFill>
                <a:latin typeface="Calibri"/>
                <a:cs typeface="Calibri"/>
              </a:rPr>
              <a:t>on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55" dirty="0">
                <a:solidFill>
                  <a:srgbClr val="66534E"/>
                </a:solidFill>
                <a:latin typeface="Calibri"/>
                <a:cs typeface="Calibri"/>
              </a:rPr>
              <a:t>the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70" dirty="0">
                <a:solidFill>
                  <a:srgbClr val="66534E"/>
                </a:solidFill>
                <a:latin typeface="Calibri"/>
                <a:cs typeface="Calibri"/>
              </a:rPr>
              <a:t>development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90" dirty="0">
                <a:solidFill>
                  <a:srgbClr val="66534E"/>
                </a:solidFill>
                <a:latin typeface="Calibri"/>
                <a:cs typeface="Calibri"/>
              </a:rPr>
              <a:t>of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90" dirty="0">
                <a:solidFill>
                  <a:srgbClr val="66534E"/>
                </a:solidFill>
                <a:latin typeface="Calibri"/>
                <a:cs typeface="Calibri"/>
              </a:rPr>
              <a:t>an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14" dirty="0">
                <a:solidFill>
                  <a:srgbClr val="66534E"/>
                </a:solidFill>
                <a:latin typeface="Calibri"/>
                <a:cs typeface="Calibri"/>
              </a:rPr>
              <a:t>interactive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80" dirty="0">
                <a:solidFill>
                  <a:srgbClr val="66534E"/>
                </a:solidFill>
                <a:latin typeface="Calibri"/>
                <a:cs typeface="Calibri"/>
              </a:rPr>
              <a:t>knowledge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75" dirty="0">
                <a:solidFill>
                  <a:srgbClr val="66534E"/>
                </a:solidFill>
                <a:latin typeface="Calibri"/>
                <a:cs typeface="Calibri"/>
              </a:rPr>
              <a:t>graph </a:t>
            </a:r>
            <a:r>
              <a:rPr sz="1500" spc="114" dirty="0">
                <a:solidFill>
                  <a:srgbClr val="66534E"/>
                </a:solidFill>
                <a:latin typeface="Calibri"/>
                <a:cs typeface="Calibri"/>
              </a:rPr>
              <a:t>application.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135" dirty="0">
                <a:solidFill>
                  <a:srgbClr val="532417"/>
                </a:solidFill>
                <a:latin typeface="Calibri"/>
                <a:cs typeface="Calibri"/>
              </a:rPr>
              <a:t>Key</a:t>
            </a:r>
            <a:r>
              <a:rPr sz="2200" spc="180" dirty="0">
                <a:solidFill>
                  <a:srgbClr val="532417"/>
                </a:solidFill>
                <a:latin typeface="Calibri"/>
                <a:cs typeface="Calibri"/>
              </a:rPr>
              <a:t> </a:t>
            </a:r>
            <a:r>
              <a:rPr sz="2200" spc="85" dirty="0">
                <a:solidFill>
                  <a:srgbClr val="532417"/>
                </a:solidFill>
                <a:latin typeface="Calibri"/>
                <a:cs typeface="Calibri"/>
              </a:rPr>
              <a:t>Technologies</a:t>
            </a:r>
            <a:r>
              <a:rPr sz="2200" spc="185" dirty="0">
                <a:solidFill>
                  <a:srgbClr val="532417"/>
                </a:solidFill>
                <a:latin typeface="Calibri"/>
                <a:cs typeface="Calibri"/>
              </a:rPr>
              <a:t> </a:t>
            </a:r>
            <a:r>
              <a:rPr sz="2200" spc="55" dirty="0">
                <a:solidFill>
                  <a:srgbClr val="532417"/>
                </a:solidFill>
                <a:latin typeface="Calibri"/>
                <a:cs typeface="Calibri"/>
              </a:rPr>
              <a:t>Utilized:</a:t>
            </a:r>
            <a:endParaRPr sz="2200">
              <a:latin typeface="Calibri"/>
              <a:cs typeface="Calibri"/>
            </a:endParaRPr>
          </a:p>
          <a:p>
            <a:pPr marL="354965" indent="-285115">
              <a:lnSpc>
                <a:spcPct val="100000"/>
              </a:lnSpc>
              <a:spcBef>
                <a:spcPts val="2595"/>
              </a:spcBef>
              <a:buChar char="•"/>
              <a:tabLst>
                <a:tab pos="354965" algn="l"/>
              </a:tabLst>
            </a:pPr>
            <a:r>
              <a:rPr sz="1500" spc="175" dirty="0">
                <a:solidFill>
                  <a:srgbClr val="66534E"/>
                </a:solidFill>
                <a:latin typeface="Calibri"/>
                <a:cs typeface="Calibri"/>
              </a:rPr>
              <a:t>Python</a:t>
            </a:r>
            <a:endParaRPr sz="1500">
              <a:latin typeface="Calibri"/>
              <a:cs typeface="Calibri"/>
            </a:endParaRPr>
          </a:p>
          <a:p>
            <a:pPr marL="354965" indent="-28511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</a:tabLst>
            </a:pPr>
            <a:r>
              <a:rPr sz="1500" spc="150" dirty="0">
                <a:solidFill>
                  <a:srgbClr val="66534E"/>
                </a:solidFill>
                <a:latin typeface="Calibri"/>
                <a:cs typeface="Calibri"/>
              </a:rPr>
              <a:t>NetworkX</a:t>
            </a:r>
            <a:endParaRPr sz="1500">
              <a:latin typeface="Calibri"/>
              <a:cs typeface="Calibri"/>
            </a:endParaRPr>
          </a:p>
          <a:p>
            <a:pPr marL="354965" indent="-285115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sz="1500" spc="125" dirty="0">
                <a:solidFill>
                  <a:srgbClr val="66534E"/>
                </a:solidFill>
                <a:latin typeface="Calibri"/>
                <a:cs typeface="Calibri"/>
              </a:rPr>
              <a:t>Streamlit</a:t>
            </a:r>
            <a:endParaRPr sz="1500">
              <a:latin typeface="Calibri"/>
              <a:cs typeface="Calibri"/>
            </a:endParaRPr>
          </a:p>
          <a:p>
            <a:pPr marL="354965" indent="-285115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sz="1500" spc="145" dirty="0">
                <a:solidFill>
                  <a:srgbClr val="66534E"/>
                </a:solidFill>
                <a:latin typeface="Calibri"/>
                <a:cs typeface="Calibri"/>
              </a:rPr>
              <a:t>PyVis</a:t>
            </a:r>
            <a:endParaRPr sz="1500">
              <a:latin typeface="Calibri"/>
              <a:cs typeface="Calibri"/>
            </a:endParaRPr>
          </a:p>
          <a:p>
            <a:pPr marL="354965" indent="-28511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</a:tabLst>
            </a:pP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SentenceTransformers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  <a:buClr>
                <a:srgbClr val="66534E"/>
              </a:buClr>
              <a:buFont typeface="Calibri"/>
              <a:buChar char="•"/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200" spc="135" dirty="0">
                <a:solidFill>
                  <a:srgbClr val="532417"/>
                </a:solidFill>
                <a:latin typeface="Calibri"/>
                <a:cs typeface="Calibri"/>
              </a:rPr>
              <a:t>Main</a:t>
            </a:r>
            <a:r>
              <a:rPr sz="2200" spc="170" dirty="0">
                <a:solidFill>
                  <a:srgbClr val="532417"/>
                </a:solidFill>
                <a:latin typeface="Calibri"/>
                <a:cs typeface="Calibri"/>
              </a:rPr>
              <a:t> </a:t>
            </a:r>
            <a:r>
              <a:rPr sz="2200" spc="45" dirty="0">
                <a:solidFill>
                  <a:srgbClr val="532417"/>
                </a:solidFill>
                <a:latin typeface="Calibri"/>
                <a:cs typeface="Calibri"/>
              </a:rPr>
              <a:t>Features</a:t>
            </a:r>
            <a:r>
              <a:rPr sz="2200" spc="175" dirty="0">
                <a:solidFill>
                  <a:srgbClr val="532417"/>
                </a:solidFill>
                <a:latin typeface="Calibri"/>
                <a:cs typeface="Calibri"/>
              </a:rPr>
              <a:t> </a:t>
            </a:r>
            <a:r>
              <a:rPr sz="2200" spc="80" dirty="0">
                <a:solidFill>
                  <a:srgbClr val="532417"/>
                </a:solidFill>
                <a:latin typeface="Calibri"/>
                <a:cs typeface="Calibri"/>
              </a:rPr>
              <a:t>Achieved:</a:t>
            </a:r>
            <a:endParaRPr sz="2200">
              <a:latin typeface="Calibri"/>
              <a:cs typeface="Calibri"/>
            </a:endParaRPr>
          </a:p>
          <a:p>
            <a:pPr marL="354965" indent="-285115">
              <a:lnSpc>
                <a:spcPct val="100000"/>
              </a:lnSpc>
              <a:spcBef>
                <a:spcPts val="2595"/>
              </a:spcBef>
              <a:buChar char="•"/>
              <a:tabLst>
                <a:tab pos="354965" algn="l"/>
              </a:tabLst>
            </a:pPr>
            <a:r>
              <a:rPr sz="1500" spc="160" dirty="0">
                <a:solidFill>
                  <a:srgbClr val="66534E"/>
                </a:solidFill>
                <a:latin typeface="Calibri"/>
                <a:cs typeface="Calibri"/>
              </a:rPr>
              <a:t>Graph</a:t>
            </a:r>
            <a:r>
              <a:rPr sz="1500" spc="6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5" dirty="0">
                <a:solidFill>
                  <a:srgbClr val="66534E"/>
                </a:solidFill>
                <a:latin typeface="Calibri"/>
                <a:cs typeface="Calibri"/>
              </a:rPr>
              <a:t>analytics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14" dirty="0">
                <a:solidFill>
                  <a:srgbClr val="66534E"/>
                </a:solidFill>
                <a:latin typeface="Calibri"/>
                <a:cs typeface="Calibri"/>
              </a:rPr>
              <a:t>capabilities</a:t>
            </a:r>
            <a:endParaRPr sz="1500">
              <a:latin typeface="Calibri"/>
              <a:cs typeface="Calibri"/>
            </a:endParaRPr>
          </a:p>
          <a:p>
            <a:pPr marL="354965" indent="-285115">
              <a:lnSpc>
                <a:spcPct val="100000"/>
              </a:lnSpc>
              <a:spcBef>
                <a:spcPts val="750"/>
              </a:spcBef>
              <a:buChar char="•"/>
              <a:tabLst>
                <a:tab pos="354965" algn="l"/>
              </a:tabLst>
            </a:pPr>
            <a:r>
              <a:rPr sz="1500" spc="185" dirty="0">
                <a:solidFill>
                  <a:srgbClr val="66534E"/>
                </a:solidFill>
                <a:latin typeface="Calibri"/>
                <a:cs typeface="Calibri"/>
              </a:rPr>
              <a:t>Semantic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5" dirty="0">
                <a:solidFill>
                  <a:srgbClr val="66534E"/>
                </a:solidFill>
                <a:latin typeface="Calibri"/>
                <a:cs typeface="Calibri"/>
              </a:rPr>
              <a:t>search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14" dirty="0">
                <a:solidFill>
                  <a:srgbClr val="66534E"/>
                </a:solidFill>
                <a:latin typeface="Calibri"/>
                <a:cs typeface="Calibri"/>
              </a:rPr>
              <a:t>functionality</a:t>
            </a:r>
            <a:endParaRPr sz="1500">
              <a:latin typeface="Calibri"/>
              <a:cs typeface="Calibri"/>
            </a:endParaRPr>
          </a:p>
          <a:p>
            <a:pPr marL="354965" indent="-285115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</a:tabLst>
            </a:pPr>
            <a:r>
              <a:rPr sz="1500" spc="114" dirty="0">
                <a:solidFill>
                  <a:srgbClr val="66534E"/>
                </a:solidFill>
                <a:latin typeface="Calibri"/>
                <a:cs typeface="Calibri"/>
              </a:rPr>
              <a:t>Interactive</a:t>
            </a:r>
            <a:r>
              <a:rPr sz="150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55" dirty="0">
                <a:solidFill>
                  <a:srgbClr val="66534E"/>
                </a:solidFill>
                <a:latin typeface="Calibri"/>
                <a:cs typeface="Calibri"/>
              </a:rPr>
              <a:t>data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14" dirty="0">
                <a:solidFill>
                  <a:srgbClr val="66534E"/>
                </a:solidFill>
                <a:latin typeface="Calibri"/>
                <a:cs typeface="Calibri"/>
              </a:rPr>
              <a:t>visualization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33300"/>
              </a:lnSpc>
              <a:spcBef>
                <a:spcPts val="1350"/>
              </a:spcBef>
            </a:pPr>
            <a:r>
              <a:rPr sz="1500" spc="160" dirty="0">
                <a:solidFill>
                  <a:srgbClr val="66534E"/>
                </a:solidFill>
                <a:latin typeface="Calibri"/>
                <a:cs typeface="Calibri"/>
              </a:rPr>
              <a:t>The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0" dirty="0">
                <a:solidFill>
                  <a:srgbClr val="66534E"/>
                </a:solidFill>
                <a:latin typeface="Calibri"/>
                <a:cs typeface="Calibri"/>
              </a:rPr>
              <a:t>application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5" dirty="0">
                <a:solidFill>
                  <a:srgbClr val="66534E"/>
                </a:solidFill>
                <a:latin typeface="Calibri"/>
                <a:cs typeface="Calibri"/>
              </a:rPr>
              <a:t>successfully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integrates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70" dirty="0">
                <a:solidFill>
                  <a:srgbClr val="66534E"/>
                </a:solidFill>
                <a:latin typeface="Calibri"/>
                <a:cs typeface="Calibri"/>
              </a:rPr>
              <a:t>graph-</a:t>
            </a:r>
            <a:r>
              <a:rPr sz="1500" spc="175" dirty="0">
                <a:solidFill>
                  <a:srgbClr val="66534E"/>
                </a:solidFill>
                <a:latin typeface="Calibri"/>
                <a:cs typeface="Calibri"/>
              </a:rPr>
              <a:t>based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55" dirty="0">
                <a:solidFill>
                  <a:srgbClr val="66534E"/>
                </a:solidFill>
                <a:latin typeface="Calibri"/>
                <a:cs typeface="Calibri"/>
              </a:rPr>
              <a:t>data</a:t>
            </a:r>
            <a:r>
              <a:rPr sz="1500" spc="7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representation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25" dirty="0">
                <a:solidFill>
                  <a:srgbClr val="66534E"/>
                </a:solidFill>
                <a:latin typeface="Calibri"/>
                <a:cs typeface="Calibri"/>
              </a:rPr>
              <a:t>with </a:t>
            </a:r>
            <a:r>
              <a:rPr sz="1500" spc="175" dirty="0">
                <a:solidFill>
                  <a:srgbClr val="66534E"/>
                </a:solidFill>
                <a:latin typeface="Calibri"/>
                <a:cs typeface="Calibri"/>
              </a:rPr>
              <a:t>advanced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30" dirty="0">
                <a:solidFill>
                  <a:srgbClr val="66534E"/>
                </a:solidFill>
                <a:latin typeface="Calibri"/>
                <a:cs typeface="Calibri"/>
              </a:rPr>
              <a:t>analytical</a:t>
            </a:r>
            <a:r>
              <a:rPr sz="150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20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25" dirty="0">
                <a:solidFill>
                  <a:srgbClr val="66534E"/>
                </a:solidFill>
                <a:latin typeface="Calibri"/>
                <a:cs typeface="Calibri"/>
              </a:rPr>
              <a:t>visualization</a:t>
            </a:r>
            <a:r>
              <a:rPr sz="150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tools,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50" dirty="0">
                <a:solidFill>
                  <a:srgbClr val="66534E"/>
                </a:solidFill>
                <a:latin typeface="Calibri"/>
                <a:cs typeface="Calibri"/>
              </a:rPr>
              <a:t>providing</a:t>
            </a:r>
            <a:r>
              <a:rPr sz="150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70" dirty="0">
                <a:solidFill>
                  <a:srgbClr val="66534E"/>
                </a:solidFill>
                <a:latin typeface="Calibri"/>
                <a:cs typeface="Calibri"/>
              </a:rPr>
              <a:t>a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5" dirty="0">
                <a:solidFill>
                  <a:srgbClr val="66534E"/>
                </a:solidFill>
                <a:latin typeface="Calibri"/>
                <a:cs typeface="Calibri"/>
              </a:rPr>
              <a:t>robust</a:t>
            </a:r>
            <a:r>
              <a:rPr sz="1500" spc="7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5" dirty="0">
                <a:solidFill>
                  <a:srgbClr val="66534E"/>
                </a:solidFill>
                <a:latin typeface="Calibri"/>
                <a:cs typeface="Calibri"/>
              </a:rPr>
              <a:t>framework</a:t>
            </a:r>
            <a:r>
              <a:rPr sz="1500" spc="65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55" dirty="0">
                <a:solidFill>
                  <a:srgbClr val="66534E"/>
                </a:solidFill>
                <a:latin typeface="Calibri"/>
                <a:cs typeface="Calibri"/>
              </a:rPr>
              <a:t>for </a:t>
            </a:r>
            <a:r>
              <a:rPr sz="1500" spc="145" dirty="0">
                <a:solidFill>
                  <a:srgbClr val="66534E"/>
                </a:solidFill>
                <a:latin typeface="Calibri"/>
                <a:cs typeface="Calibri"/>
              </a:rPr>
              <a:t>exploring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75" dirty="0">
                <a:solidFill>
                  <a:srgbClr val="66534E"/>
                </a:solidFill>
                <a:latin typeface="Calibri"/>
                <a:cs typeface="Calibri"/>
              </a:rPr>
              <a:t>complex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55" dirty="0">
                <a:solidFill>
                  <a:srgbClr val="66534E"/>
                </a:solidFill>
                <a:latin typeface="Calibri"/>
                <a:cs typeface="Calibri"/>
              </a:rPr>
              <a:t>data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25" dirty="0">
                <a:solidFill>
                  <a:srgbClr val="66534E"/>
                </a:solidFill>
                <a:latin typeface="Calibri"/>
                <a:cs typeface="Calibri"/>
              </a:rPr>
              <a:t>relationships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200" dirty="0">
                <a:solidFill>
                  <a:srgbClr val="66534E"/>
                </a:solidFill>
                <a:latin typeface="Calibri"/>
                <a:cs typeface="Calibri"/>
              </a:rPr>
              <a:t>and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0" dirty="0">
                <a:solidFill>
                  <a:srgbClr val="66534E"/>
                </a:solidFill>
                <a:latin typeface="Calibri"/>
                <a:cs typeface="Calibri"/>
              </a:rPr>
              <a:t>extracting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45" dirty="0">
                <a:solidFill>
                  <a:srgbClr val="66534E"/>
                </a:solidFill>
                <a:latin typeface="Calibri"/>
                <a:cs typeface="Calibri"/>
              </a:rPr>
              <a:t>actionable</a:t>
            </a:r>
            <a:r>
              <a:rPr sz="1500" spc="80" dirty="0">
                <a:solidFill>
                  <a:srgbClr val="66534E"/>
                </a:solidFill>
                <a:latin typeface="Calibri"/>
                <a:cs typeface="Calibri"/>
              </a:rPr>
              <a:t> </a:t>
            </a:r>
            <a:r>
              <a:rPr sz="1500" spc="114" dirty="0">
                <a:solidFill>
                  <a:srgbClr val="66534E"/>
                </a:solidFill>
                <a:latin typeface="Calibri"/>
                <a:cs typeface="Calibri"/>
              </a:rPr>
              <a:t>insights.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2A6D03-0F8B-D708-21C7-10D4BC34F353}"/>
              </a:ext>
            </a:extLst>
          </p:cNvPr>
          <p:cNvSpPr txBox="1"/>
          <p:nvPr/>
        </p:nvSpPr>
        <p:spPr>
          <a:xfrm>
            <a:off x="3733800" y="2999839"/>
            <a:ext cx="9601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/>
              <a:t>-:</a:t>
            </a:r>
            <a:r>
              <a:rPr lang="en-IN" sz="8000" dirty="0">
                <a:latin typeface="Algerian" panose="04020705040A02060702" pitchFamily="82" charset="0"/>
              </a:rPr>
              <a:t>Thank</a:t>
            </a:r>
            <a:r>
              <a:rPr lang="en-IN" sz="8000" dirty="0"/>
              <a:t> </a:t>
            </a:r>
            <a:r>
              <a:rPr lang="en-IN" sz="8000" dirty="0">
                <a:latin typeface="Algerian" panose="04020705040A02060702" pitchFamily="82" charset="0"/>
              </a:rPr>
              <a:t>You</a:t>
            </a:r>
            <a:r>
              <a:rPr lang="en-IN" sz="8000" dirty="0"/>
              <a:t> :-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C6DC68-46A4-F164-D3D1-048ACF5A2757}"/>
              </a:ext>
            </a:extLst>
          </p:cNvPr>
          <p:cNvSpPr txBox="1"/>
          <p:nvPr/>
        </p:nvSpPr>
        <p:spPr>
          <a:xfrm>
            <a:off x="12725400" y="7620000"/>
            <a:ext cx="1828800" cy="609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550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677</Words>
  <Application>Microsoft Office PowerPoint</Application>
  <PresentationFormat>Custom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Calibri</vt:lpstr>
      <vt:lpstr>Consolas</vt:lpstr>
      <vt:lpstr>Segoe UI Symbol</vt:lpstr>
      <vt:lpstr>Office Theme</vt:lpstr>
      <vt:lpstr>PowerPoint Presentation</vt:lpstr>
      <vt:lpstr>Project Overview: Key Components</vt:lpstr>
      <vt:lpstr>Imports: Setting Up the Environment</vt:lpstr>
      <vt:lpstr>Building the Graph: Core Construction</vt:lpstr>
      <vt:lpstr>Graph Analytics: Centrality Measures</vt:lpstr>
      <vt:lpstr>Semantic QA: Core Functions</vt:lpstr>
      <vt:lpstr>Node Visualization &amp; UI Integration</vt:lpstr>
      <vt:lpstr>Output Analysis: Insights &amp; Best Practices</vt:lpstr>
      <vt:lpstr>🎯 Project Complete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Althaf Shaik</cp:lastModifiedBy>
  <cp:revision>7</cp:revision>
  <dcterms:created xsi:type="dcterms:W3CDTF">2025-10-07T13:15:06Z</dcterms:created>
  <dcterms:modified xsi:type="dcterms:W3CDTF">2025-10-07T13:42:55Z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2025-10-07T00:00:00Z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2025-10-07T00:00:00Z</vt:filetime>
  </property>
</Properties>
</file>